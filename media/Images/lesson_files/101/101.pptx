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8" r:id="rId3"/>
    <p:sldId id="257" r:id="rId4"/>
    <p:sldId id="259" r:id="rId5"/>
    <p:sldId id="260" r:id="rId6"/>
    <p:sldId id="276" r:id="rId7"/>
    <p:sldId id="277" r:id="rId8"/>
    <p:sldId id="278" r:id="rId9"/>
    <p:sldId id="271" r:id="rId10"/>
    <p:sldId id="272" r:id="rId11"/>
    <p:sldId id="273" r:id="rId12"/>
    <p:sldId id="274" r:id="rId13"/>
    <p:sldId id="270" r:id="rId14"/>
  </p:sldIdLst>
  <p:sldSz cx="18288000" cy="10287000"/>
  <p:notesSz cx="6858000" cy="9144000"/>
  <p:embeddedFontLst>
    <p:embeddedFont>
      <p:font typeface="DM Sans" pitchFamily="2" charset="0"/>
      <p:regular r:id="rId16"/>
      <p:bold r:id="rId17"/>
      <p:italic r:id="rId18"/>
      <p:boldItalic r:id="rId19"/>
    </p:embeddedFont>
    <p:embeddedFont>
      <p:font typeface="Franklin Gothic Medium" panose="020B0603020102020204" pitchFamily="34" charset="0"/>
      <p:regular r:id="rId20"/>
      <p:italic r:id="rId21"/>
    </p:embeddedFont>
    <p:embeddedFont>
      <p:font typeface="Heebo Bold" panose="020B0604020202020204" charset="-79"/>
      <p:regular r:id="rId22"/>
    </p:embeddedFont>
    <p:embeddedFont>
      <p:font typeface="Helios Extended Bold" panose="020B0604020202020204" charset="0"/>
      <p:regular r:id="rId23"/>
    </p:embeddedFont>
    <p:embeddedFont>
      <p:font typeface="Lato" panose="020F0502020204030203" pitchFamily="34" charset="0"/>
      <p:regular r:id="rId24"/>
      <p:bold r:id="rId25"/>
      <p:italic r:id="rId26"/>
      <p:boldItalic r:id="rId27"/>
    </p:embeddedFont>
    <p:embeddedFont>
      <p:font typeface="Poppins" panose="00000500000000000000" pitchFamily="2"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3" d="100"/>
          <a:sy n="33" d="100"/>
        </p:scale>
        <p:origin x="1300" y="3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349BE0-E0B5-4BC4-80E7-7AB42FDDF3E9}" type="datetimeFigureOut">
              <a:rPr lang="en-US" smtClean="0"/>
              <a:t>9/4/2025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1ED99-A946-4308-B5D9-0A154A31A9F2}" type="slidenum">
              <a:rPr lang="en-US" smtClean="0"/>
              <a:t>‹#›</a:t>
            </a:fld>
            <a:endParaRPr lang="en-US"/>
          </a:p>
        </p:txBody>
      </p:sp>
    </p:spTree>
    <p:extLst>
      <p:ext uri="{BB962C8B-B14F-4D97-AF65-F5344CB8AC3E}">
        <p14:creationId xmlns:p14="http://schemas.microsoft.com/office/powerpoint/2010/main" val="1423124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8598a349f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8598a349f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8598a349f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8598a349f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8598a349f7_2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8598a349f7_2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623400" y="890050"/>
            <a:ext cx="17041200" cy="1145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623400" y="2304950"/>
            <a:ext cx="17041200" cy="6832800"/>
          </a:xfrm>
          <a:prstGeom prst="rect">
            <a:avLst/>
          </a:prstGeom>
        </p:spPr>
        <p:txBody>
          <a:bodyPr spcFirstLastPara="1" wrap="square" lIns="91425" tIns="91425" rIns="91425" bIns="91425" anchor="t" anchorCtr="0">
            <a:normAutofit/>
          </a:bodyPr>
          <a:lstStyle>
            <a:lvl1pPr marL="914400" lvl="0" indent="-685800">
              <a:spcBef>
                <a:spcPts val="0"/>
              </a:spcBef>
              <a:spcAft>
                <a:spcPts val="0"/>
              </a:spcAft>
              <a:buSzPts val="1800"/>
              <a:buChar char="●"/>
              <a:defRPr/>
            </a:lvl1pPr>
            <a:lvl2pPr marL="1828800" lvl="1" indent="-635000">
              <a:spcBef>
                <a:spcPts val="0"/>
              </a:spcBef>
              <a:spcAft>
                <a:spcPts val="0"/>
              </a:spcAft>
              <a:buSzPts val="1400"/>
              <a:buChar char="○"/>
              <a:defRPr/>
            </a:lvl2pPr>
            <a:lvl3pPr marL="2743200" lvl="2" indent="-635000">
              <a:spcBef>
                <a:spcPts val="0"/>
              </a:spcBef>
              <a:spcAft>
                <a:spcPts val="0"/>
              </a:spcAft>
              <a:buSzPts val="1400"/>
              <a:buChar char="■"/>
              <a:defRPr/>
            </a:lvl3pPr>
            <a:lvl4pPr marL="3657600" lvl="3" indent="-635000">
              <a:spcBef>
                <a:spcPts val="0"/>
              </a:spcBef>
              <a:spcAft>
                <a:spcPts val="0"/>
              </a:spcAft>
              <a:buSzPts val="1400"/>
              <a:buChar char="●"/>
              <a:defRPr/>
            </a:lvl4pPr>
            <a:lvl5pPr marL="4572000" lvl="4" indent="-635000">
              <a:spcBef>
                <a:spcPts val="0"/>
              </a:spcBef>
              <a:spcAft>
                <a:spcPts val="0"/>
              </a:spcAft>
              <a:buSzPts val="1400"/>
              <a:buChar char="○"/>
              <a:defRPr/>
            </a:lvl5pPr>
            <a:lvl6pPr marL="5486400" lvl="5" indent="-635000">
              <a:spcBef>
                <a:spcPts val="0"/>
              </a:spcBef>
              <a:spcAft>
                <a:spcPts val="0"/>
              </a:spcAft>
              <a:buSzPts val="1400"/>
              <a:buChar char="■"/>
              <a:defRPr/>
            </a:lvl6pPr>
            <a:lvl7pPr marL="6400800" lvl="6" indent="-635000">
              <a:spcBef>
                <a:spcPts val="0"/>
              </a:spcBef>
              <a:spcAft>
                <a:spcPts val="0"/>
              </a:spcAft>
              <a:buSzPts val="1400"/>
              <a:buChar char="●"/>
              <a:defRPr/>
            </a:lvl7pPr>
            <a:lvl8pPr marL="7315200" lvl="7" indent="-635000">
              <a:spcBef>
                <a:spcPts val="0"/>
              </a:spcBef>
              <a:spcAft>
                <a:spcPts val="0"/>
              </a:spcAft>
              <a:buSzPts val="1400"/>
              <a:buChar char="○"/>
              <a:defRPr/>
            </a:lvl8pPr>
            <a:lvl9pPr marL="8229600" lvl="8" indent="-635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63794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6400" y="1154949"/>
            <a:ext cx="21203378" cy="7634140"/>
            <a:chOff x="0" y="0"/>
            <a:chExt cx="1128752" cy="406400"/>
          </a:xfrm>
        </p:grpSpPr>
        <p:sp>
          <p:nvSpPr>
            <p:cNvPr id="3" name="Freeform 3"/>
            <p:cNvSpPr/>
            <p:nvPr/>
          </p:nvSpPr>
          <p:spPr>
            <a:xfrm>
              <a:off x="0" y="0"/>
              <a:ext cx="1128752" cy="406400"/>
            </a:xfrm>
            <a:custGeom>
              <a:avLst/>
              <a:gdLst/>
              <a:ahLst/>
              <a:cxnLst/>
              <a:rect l="l" t="t" r="r" b="b"/>
              <a:pathLst>
                <a:path w="1128752" h="406400">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id="4" name="TextBox 4"/>
            <p:cNvSpPr txBox="1"/>
            <p:nvPr/>
          </p:nvSpPr>
          <p:spPr>
            <a:xfrm>
              <a:off x="0" y="-47625"/>
              <a:ext cx="1128752" cy="454025"/>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028700" y="9009810"/>
            <a:ext cx="248490" cy="248490"/>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7" name="TextBox 7"/>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7010810" y="1028700"/>
            <a:ext cx="248490" cy="248490"/>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0" name="TextBox 10"/>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277190" y="7803905"/>
            <a:ext cx="4210050" cy="985184"/>
            <a:chOff x="0" y="-47625"/>
            <a:chExt cx="928198" cy="259472"/>
          </a:xfrm>
        </p:grpSpPr>
        <p:sp>
          <p:nvSpPr>
            <p:cNvPr id="12" name="Freeform 12"/>
            <p:cNvSpPr/>
            <p:nvPr/>
          </p:nvSpPr>
          <p:spPr>
            <a:xfrm>
              <a:off x="37614" y="-12780"/>
              <a:ext cx="812800" cy="211847"/>
            </a:xfrm>
            <a:custGeom>
              <a:avLst/>
              <a:gdLst/>
              <a:ahLst/>
              <a:cxnLst/>
              <a:rect l="l" t="t" r="r" b="b"/>
              <a:pathLst>
                <a:path w="812800" h="211847">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4E6E81"/>
            </a:solidFill>
          </p:spPr>
        </p:sp>
        <p:sp>
          <p:nvSpPr>
            <p:cNvPr id="13" name="TextBox 13"/>
            <p:cNvSpPr txBox="1"/>
            <p:nvPr/>
          </p:nvSpPr>
          <p:spPr>
            <a:xfrm>
              <a:off x="0" y="-47625"/>
              <a:ext cx="928198" cy="259472"/>
            </a:xfrm>
            <a:prstGeom prst="rect">
              <a:avLst/>
            </a:prstGeom>
          </p:spPr>
          <p:txBody>
            <a:bodyPr lIns="50800" tIns="50800" rIns="50800" bIns="50800" rtlCol="0" anchor="ctr"/>
            <a:lstStyle/>
            <a:p>
              <a:pPr algn="ctr">
                <a:lnSpc>
                  <a:spcPts val="3079"/>
                </a:lnSpc>
              </a:pPr>
              <a:r>
                <a:rPr lang="en-US" sz="2199" spc="219" dirty="0">
                  <a:solidFill>
                    <a:srgbClr val="FFFFFF"/>
                  </a:solidFill>
                  <a:latin typeface="Lato"/>
                  <a:ea typeface="Lato"/>
                  <a:cs typeface="Lato"/>
                  <a:sym typeface="Lato"/>
                </a:rPr>
                <a:t>04 September, 2025</a:t>
              </a:r>
            </a:p>
          </p:txBody>
        </p:sp>
      </p:grpSp>
      <p:sp>
        <p:nvSpPr>
          <p:cNvPr id="14" name="Freeform 14"/>
          <p:cNvSpPr/>
          <p:nvPr/>
        </p:nvSpPr>
        <p:spPr>
          <a:xfrm>
            <a:off x="996412" y="858261"/>
            <a:ext cx="533846" cy="589367"/>
          </a:xfrm>
          <a:custGeom>
            <a:avLst/>
            <a:gdLst/>
            <a:ahLst/>
            <a:cxnLst/>
            <a:rect l="l" t="t" r="r" b="b"/>
            <a:pathLst>
              <a:path w="533846" h="589367">
                <a:moveTo>
                  <a:pt x="0" y="0"/>
                </a:moveTo>
                <a:lnTo>
                  <a:pt x="533846" y="0"/>
                </a:lnTo>
                <a:lnTo>
                  <a:pt x="533846" y="589367"/>
                </a:lnTo>
                <a:lnTo>
                  <a:pt x="0" y="5893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266700" y="1170260"/>
            <a:ext cx="18821400" cy="2003112"/>
          </a:xfrm>
          <a:prstGeom prst="rect">
            <a:avLst/>
          </a:prstGeom>
        </p:spPr>
        <p:txBody>
          <a:bodyPr wrap="square" lIns="0" tIns="0" rIns="0" bIns="0" rtlCol="0" anchor="t">
            <a:spAutoFit/>
          </a:bodyPr>
          <a:lstStyle/>
          <a:p>
            <a:pPr lvl="0" algn="ctr">
              <a:lnSpc>
                <a:spcPts val="8400"/>
              </a:lnSpc>
            </a:pPr>
            <a:r>
              <a:rPr lang="en-US" sz="4000" b="1" spc="300" dirty="0">
                <a:solidFill>
                  <a:srgbClr val="000000"/>
                </a:solidFill>
                <a:latin typeface="Franklin Gothic Medium" panose="020B0603020102020204" pitchFamily="34" charset="0"/>
                <a:ea typeface="Helios Extended Bold"/>
                <a:cs typeface="Helios Extended Bold"/>
                <a:sym typeface="Helios Extended Bold"/>
              </a:rPr>
              <a:t>An Interpretable DenseNet-121 Framework Leveraging Grad-CAM </a:t>
            </a:r>
          </a:p>
          <a:p>
            <a:pPr lvl="0" algn="ctr">
              <a:lnSpc>
                <a:spcPts val="8400"/>
              </a:lnSpc>
            </a:pPr>
            <a:r>
              <a:rPr lang="en-US" sz="4000" b="1" spc="300" dirty="0">
                <a:solidFill>
                  <a:srgbClr val="000000"/>
                </a:solidFill>
                <a:latin typeface="Franklin Gothic Medium" panose="020B0603020102020204" pitchFamily="34" charset="0"/>
                <a:ea typeface="Helios Extended Bold"/>
                <a:cs typeface="Helios Extended Bold"/>
                <a:sym typeface="Helios Extended Bold"/>
              </a:rPr>
              <a:t>for Accurate and Robust Grape Leaf Disease Detection</a:t>
            </a:r>
          </a:p>
        </p:txBody>
      </p:sp>
      <p:graphicFrame>
        <p:nvGraphicFramePr>
          <p:cNvPr id="20" name="Table 19">
            <a:extLst>
              <a:ext uri="{FF2B5EF4-FFF2-40B4-BE49-F238E27FC236}">
                <a16:creationId xmlns:a16="http://schemas.microsoft.com/office/drawing/2014/main" id="{3F07C03E-0866-B38C-A1ED-61C806DAC0F6}"/>
              </a:ext>
            </a:extLst>
          </p:cNvPr>
          <p:cNvGraphicFramePr>
            <a:graphicFrameLocks noGrp="1"/>
          </p:cNvGraphicFramePr>
          <p:nvPr>
            <p:extLst>
              <p:ext uri="{D42A27DB-BD31-4B8C-83A1-F6EECF244321}">
                <p14:modId xmlns:p14="http://schemas.microsoft.com/office/powerpoint/2010/main" val="467588180"/>
              </p:ext>
            </p:extLst>
          </p:nvPr>
        </p:nvGraphicFramePr>
        <p:xfrm>
          <a:off x="1437741" y="5105400"/>
          <a:ext cx="7306901" cy="2460337"/>
        </p:xfrm>
        <a:graphic>
          <a:graphicData uri="http://schemas.openxmlformats.org/drawingml/2006/table">
            <a:tbl>
              <a:tblPr firstRow="1" firstCol="1" bandRow="1">
                <a:tableStyleId>{8FD4443E-F989-4FC4-A0C8-D5A2AF1F390B}</a:tableStyleId>
              </a:tblPr>
              <a:tblGrid>
                <a:gridCol w="4392251">
                  <a:extLst>
                    <a:ext uri="{9D8B030D-6E8A-4147-A177-3AD203B41FA5}">
                      <a16:colId xmlns:a16="http://schemas.microsoft.com/office/drawing/2014/main" val="275680293"/>
                    </a:ext>
                  </a:extLst>
                </a:gridCol>
                <a:gridCol w="2914650">
                  <a:extLst>
                    <a:ext uri="{9D8B030D-6E8A-4147-A177-3AD203B41FA5}">
                      <a16:colId xmlns:a16="http://schemas.microsoft.com/office/drawing/2014/main" val="695745409"/>
                    </a:ext>
                  </a:extLst>
                </a:gridCol>
              </a:tblGrid>
              <a:tr h="552404">
                <a:tc>
                  <a:txBody>
                    <a:bodyPr/>
                    <a:lstStyle/>
                    <a:p>
                      <a:pPr marL="0" marR="0">
                        <a:lnSpc>
                          <a:spcPct val="106000"/>
                        </a:lnSpc>
                        <a:spcAft>
                          <a:spcPts val="800"/>
                        </a:spcAft>
                        <a:buNone/>
                      </a:pPr>
                      <a:r>
                        <a:rPr lang="en-US" sz="2800" b="1" kern="0" dirty="0">
                          <a:effectLst/>
                        </a:rPr>
                        <a:t>Name</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tc>
                  <a:txBody>
                    <a:bodyPr/>
                    <a:lstStyle/>
                    <a:p>
                      <a:pPr marL="0" marR="0">
                        <a:lnSpc>
                          <a:spcPct val="106000"/>
                        </a:lnSpc>
                        <a:spcAft>
                          <a:spcPts val="800"/>
                        </a:spcAft>
                        <a:buNone/>
                      </a:pPr>
                      <a:r>
                        <a:rPr lang="en-US" sz="2800" b="1" kern="0" dirty="0">
                          <a:effectLst/>
                        </a:rPr>
                        <a:t>ID</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extLst>
                  <a:ext uri="{0D108BD9-81ED-4DB2-BD59-A6C34878D82A}">
                    <a16:rowId xmlns:a16="http://schemas.microsoft.com/office/drawing/2014/main" val="373051533"/>
                  </a:ext>
                </a:extLst>
              </a:tr>
              <a:tr h="633401">
                <a:tc>
                  <a:txBody>
                    <a:bodyPr/>
                    <a:lstStyle/>
                    <a:p>
                      <a:pPr marL="0" marR="0">
                        <a:lnSpc>
                          <a:spcPct val="106000"/>
                        </a:lnSpc>
                        <a:spcAft>
                          <a:spcPts val="800"/>
                        </a:spcAft>
                        <a:buNone/>
                      </a:pPr>
                      <a:r>
                        <a:rPr lang="en-US" sz="2800" kern="0" dirty="0">
                          <a:effectLst/>
                        </a:rPr>
                        <a:t>Ehsanul Haque</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tc>
                  <a:txBody>
                    <a:bodyPr/>
                    <a:lstStyle/>
                    <a:p>
                      <a:pPr marL="0" marR="0">
                        <a:lnSpc>
                          <a:spcPct val="106000"/>
                        </a:lnSpc>
                        <a:spcAft>
                          <a:spcPts val="800"/>
                        </a:spcAft>
                        <a:buNone/>
                      </a:pPr>
                      <a:r>
                        <a:rPr lang="en-US" sz="2800" kern="100" dirty="0">
                          <a:solidFill>
                            <a:srgbClr val="222222"/>
                          </a:solidFill>
                          <a:effectLst/>
                          <a:highlight>
                            <a:srgbClr val="FFFFFF"/>
                          </a:highlight>
                        </a:rPr>
                        <a:t>2021-3-60-018</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extLst>
                  <a:ext uri="{0D108BD9-81ED-4DB2-BD59-A6C34878D82A}">
                    <a16:rowId xmlns:a16="http://schemas.microsoft.com/office/drawing/2014/main" val="4176565846"/>
                  </a:ext>
                </a:extLst>
              </a:tr>
              <a:tr h="633401">
                <a:tc>
                  <a:txBody>
                    <a:bodyPr/>
                    <a:lstStyle/>
                    <a:p>
                      <a:pPr marL="0" marR="0">
                        <a:lnSpc>
                          <a:spcPct val="106000"/>
                        </a:lnSpc>
                        <a:spcAft>
                          <a:spcPts val="800"/>
                        </a:spcAft>
                        <a:buNone/>
                      </a:pPr>
                      <a:r>
                        <a:rPr lang="en-US" sz="2800" kern="0" dirty="0">
                          <a:effectLst/>
                        </a:rPr>
                        <a:t>Md. Saymon Hosen Polash</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tc>
                  <a:txBody>
                    <a:bodyPr/>
                    <a:lstStyle/>
                    <a:p>
                      <a:pPr marL="0" marR="0">
                        <a:lnSpc>
                          <a:spcPct val="106000"/>
                        </a:lnSpc>
                        <a:spcAft>
                          <a:spcPts val="800"/>
                        </a:spcAft>
                        <a:buNone/>
                      </a:pPr>
                      <a:r>
                        <a:rPr lang="en-US" sz="2800" kern="100" dirty="0">
                          <a:solidFill>
                            <a:srgbClr val="222222"/>
                          </a:solidFill>
                          <a:effectLst/>
                          <a:highlight>
                            <a:srgbClr val="FFFFFF"/>
                          </a:highlight>
                        </a:rPr>
                        <a:t>2022-1-60-</a:t>
                      </a:r>
                      <a:r>
                        <a:rPr lang="en-US" sz="2800" kern="100" dirty="0">
                          <a:solidFill>
                            <a:srgbClr val="222222"/>
                          </a:solidFill>
                          <a:effectLst/>
                        </a:rPr>
                        <a:t>171</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extLst>
                  <a:ext uri="{0D108BD9-81ED-4DB2-BD59-A6C34878D82A}">
                    <a16:rowId xmlns:a16="http://schemas.microsoft.com/office/drawing/2014/main" val="1997148397"/>
                  </a:ext>
                </a:extLst>
              </a:tr>
              <a:tr h="633401">
                <a:tc>
                  <a:txBody>
                    <a:bodyPr/>
                    <a:lstStyle/>
                    <a:p>
                      <a:pPr marL="0" marR="0">
                        <a:lnSpc>
                          <a:spcPct val="106000"/>
                        </a:lnSpc>
                        <a:spcAft>
                          <a:spcPts val="800"/>
                        </a:spcAft>
                        <a:buNone/>
                      </a:pPr>
                      <a:r>
                        <a:rPr lang="en-US" sz="2800" kern="0" dirty="0">
                          <a:effectLst/>
                        </a:rPr>
                        <a:t>Rakib Hasan Ovi</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tc>
                  <a:txBody>
                    <a:bodyPr/>
                    <a:lstStyle/>
                    <a:p>
                      <a:pPr marL="0" marR="0">
                        <a:lnSpc>
                          <a:spcPct val="106000"/>
                        </a:lnSpc>
                        <a:spcAft>
                          <a:spcPts val="800"/>
                        </a:spcAft>
                        <a:buNone/>
                      </a:pPr>
                      <a:r>
                        <a:rPr lang="en-US" sz="2800" kern="100" dirty="0">
                          <a:solidFill>
                            <a:srgbClr val="222222"/>
                          </a:solidFill>
                          <a:effectLst/>
                          <a:highlight>
                            <a:srgbClr val="FFFFFF"/>
                          </a:highlight>
                        </a:rPr>
                        <a:t>2022-1-60-342</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tc>
                <a:extLst>
                  <a:ext uri="{0D108BD9-81ED-4DB2-BD59-A6C34878D82A}">
                    <a16:rowId xmlns:a16="http://schemas.microsoft.com/office/drawing/2014/main" val="68110791"/>
                  </a:ext>
                </a:extLst>
              </a:tr>
            </a:tbl>
          </a:graphicData>
        </a:graphic>
      </p:graphicFrame>
      <p:sp>
        <p:nvSpPr>
          <p:cNvPr id="22" name="TextBox 21">
            <a:extLst>
              <a:ext uri="{FF2B5EF4-FFF2-40B4-BE49-F238E27FC236}">
                <a16:creationId xmlns:a16="http://schemas.microsoft.com/office/drawing/2014/main" id="{9918628A-8C43-35F6-1849-3683FDC105D6}"/>
              </a:ext>
            </a:extLst>
          </p:cNvPr>
          <p:cNvSpPr txBox="1"/>
          <p:nvPr/>
        </p:nvSpPr>
        <p:spPr>
          <a:xfrm>
            <a:off x="-1524000" y="4483022"/>
            <a:ext cx="12528884" cy="477054"/>
          </a:xfrm>
          <a:prstGeom prst="rect">
            <a:avLst/>
          </a:prstGeom>
          <a:noFill/>
        </p:spPr>
        <p:txBody>
          <a:bodyPr wrap="square">
            <a:spAutoFit/>
          </a:bodyPr>
          <a:lstStyle/>
          <a:p>
            <a:pPr marL="0" lvl="0" indent="0" algn="ctr">
              <a:lnSpc>
                <a:spcPts val="3219"/>
              </a:lnSpc>
            </a:pPr>
            <a:r>
              <a:rPr lang="en-US" sz="2000" b="1" spc="229" dirty="0">
                <a:solidFill>
                  <a:srgbClr val="000000"/>
                </a:solidFill>
                <a:latin typeface="Heebo Bold"/>
                <a:ea typeface="Heebo Bold"/>
                <a:cs typeface="Heebo Bold"/>
                <a:sym typeface="Heebo Bold"/>
              </a:rPr>
              <a:t>Submitted by:</a:t>
            </a:r>
          </a:p>
        </p:txBody>
      </p:sp>
      <p:sp>
        <p:nvSpPr>
          <p:cNvPr id="24" name="TextBox 23">
            <a:extLst>
              <a:ext uri="{FF2B5EF4-FFF2-40B4-BE49-F238E27FC236}">
                <a16:creationId xmlns:a16="http://schemas.microsoft.com/office/drawing/2014/main" id="{35575172-BA60-4F8D-459B-BC4538B85B3F}"/>
              </a:ext>
            </a:extLst>
          </p:cNvPr>
          <p:cNvSpPr txBox="1"/>
          <p:nvPr/>
        </p:nvSpPr>
        <p:spPr>
          <a:xfrm>
            <a:off x="7732295" y="5236004"/>
            <a:ext cx="12528884" cy="477054"/>
          </a:xfrm>
          <a:prstGeom prst="rect">
            <a:avLst/>
          </a:prstGeom>
          <a:noFill/>
        </p:spPr>
        <p:txBody>
          <a:bodyPr wrap="square">
            <a:spAutoFit/>
          </a:bodyPr>
          <a:lstStyle/>
          <a:p>
            <a:pPr lvl="0" algn="ctr">
              <a:lnSpc>
                <a:spcPts val="3219"/>
              </a:lnSpc>
            </a:pPr>
            <a:r>
              <a:rPr lang="en-US" sz="2000" b="1" spc="229" dirty="0">
                <a:solidFill>
                  <a:srgbClr val="000000"/>
                </a:solidFill>
                <a:latin typeface="Heebo Bold"/>
                <a:ea typeface="Heebo Bold"/>
                <a:cs typeface="Heebo Bold"/>
                <a:sym typeface="Heebo Bold"/>
              </a:rPr>
              <a:t>Submitted to:</a:t>
            </a:r>
          </a:p>
        </p:txBody>
      </p:sp>
      <p:sp>
        <p:nvSpPr>
          <p:cNvPr id="26" name="TextBox 25">
            <a:extLst>
              <a:ext uri="{FF2B5EF4-FFF2-40B4-BE49-F238E27FC236}">
                <a16:creationId xmlns:a16="http://schemas.microsoft.com/office/drawing/2014/main" id="{49D2F145-DB74-9C28-50DA-5DDA300E57FB}"/>
              </a:ext>
            </a:extLst>
          </p:cNvPr>
          <p:cNvSpPr txBox="1"/>
          <p:nvPr/>
        </p:nvSpPr>
        <p:spPr>
          <a:xfrm>
            <a:off x="7871368" y="5685117"/>
            <a:ext cx="12528884" cy="477054"/>
          </a:xfrm>
          <a:prstGeom prst="rect">
            <a:avLst/>
          </a:prstGeom>
          <a:noFill/>
        </p:spPr>
        <p:txBody>
          <a:bodyPr wrap="square">
            <a:spAutoFit/>
          </a:bodyPr>
          <a:lstStyle/>
          <a:p>
            <a:pPr lvl="0" algn="ctr">
              <a:lnSpc>
                <a:spcPts val="3219"/>
              </a:lnSpc>
            </a:pPr>
            <a:r>
              <a:rPr lang="en-US" sz="2000" b="1" spc="229" dirty="0">
                <a:solidFill>
                  <a:srgbClr val="000000"/>
                </a:solidFill>
                <a:latin typeface="Heebo Bold"/>
                <a:ea typeface="Heebo Bold"/>
                <a:cs typeface="Heebo Bold"/>
                <a:sym typeface="Heebo Bold"/>
              </a:rPr>
              <a:t>Md Aminul Kader Bulbul</a:t>
            </a:r>
          </a:p>
        </p:txBody>
      </p:sp>
      <p:sp>
        <p:nvSpPr>
          <p:cNvPr id="31" name="TextBox 30">
            <a:extLst>
              <a:ext uri="{FF2B5EF4-FFF2-40B4-BE49-F238E27FC236}">
                <a16:creationId xmlns:a16="http://schemas.microsoft.com/office/drawing/2014/main" id="{9E06C706-821B-9C4F-B0FE-C666757C6D1F}"/>
              </a:ext>
            </a:extLst>
          </p:cNvPr>
          <p:cNvSpPr txBox="1"/>
          <p:nvPr/>
        </p:nvSpPr>
        <p:spPr>
          <a:xfrm>
            <a:off x="7871368" y="6468397"/>
            <a:ext cx="12528884" cy="477054"/>
          </a:xfrm>
          <a:prstGeom prst="rect">
            <a:avLst/>
          </a:prstGeom>
          <a:noFill/>
        </p:spPr>
        <p:txBody>
          <a:bodyPr wrap="square">
            <a:spAutoFit/>
          </a:bodyPr>
          <a:lstStyle/>
          <a:p>
            <a:pPr lvl="0" algn="ctr">
              <a:lnSpc>
                <a:spcPts val="3219"/>
              </a:lnSpc>
            </a:pPr>
            <a:r>
              <a:rPr lang="en-US" sz="2000" b="1" spc="229" dirty="0">
                <a:solidFill>
                  <a:srgbClr val="000000"/>
                </a:solidFill>
                <a:latin typeface="Heebo Bold"/>
                <a:ea typeface="Heebo Bold"/>
                <a:cs typeface="Heebo Bold"/>
                <a:sym typeface="Heebo Bold"/>
              </a:rPr>
              <a:t>Department of CSE</a:t>
            </a:r>
          </a:p>
        </p:txBody>
      </p:sp>
      <p:sp>
        <p:nvSpPr>
          <p:cNvPr id="33" name="TextBox 32">
            <a:extLst>
              <a:ext uri="{FF2B5EF4-FFF2-40B4-BE49-F238E27FC236}">
                <a16:creationId xmlns:a16="http://schemas.microsoft.com/office/drawing/2014/main" id="{40A6788B-378A-73C6-D245-0C6959A2879D}"/>
              </a:ext>
            </a:extLst>
          </p:cNvPr>
          <p:cNvSpPr txBox="1"/>
          <p:nvPr/>
        </p:nvSpPr>
        <p:spPr>
          <a:xfrm>
            <a:off x="7764379" y="6095248"/>
            <a:ext cx="12528884" cy="477054"/>
          </a:xfrm>
          <a:prstGeom prst="rect">
            <a:avLst/>
          </a:prstGeom>
          <a:noFill/>
        </p:spPr>
        <p:txBody>
          <a:bodyPr wrap="square">
            <a:spAutoFit/>
          </a:bodyPr>
          <a:lstStyle/>
          <a:p>
            <a:pPr lvl="0" algn="ctr">
              <a:lnSpc>
                <a:spcPts val="3219"/>
              </a:lnSpc>
            </a:pPr>
            <a:r>
              <a:rPr lang="en-US" sz="2000" b="1" spc="229" dirty="0">
                <a:solidFill>
                  <a:srgbClr val="000000"/>
                </a:solidFill>
                <a:latin typeface="Heebo Bold"/>
                <a:ea typeface="Heebo Bold"/>
                <a:cs typeface="Heebo Bold"/>
                <a:sym typeface="Heebo Bold"/>
              </a:rPr>
              <a:t>Lecturer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82226" y="945354"/>
            <a:ext cx="14523548" cy="1076251"/>
          </a:xfrm>
          <a:prstGeom prst="rect">
            <a:avLst/>
          </a:prstGeom>
        </p:spPr>
        <p:txBody>
          <a:bodyPr lIns="0" tIns="0" rIns="0" bIns="0" rtlCol="0" anchor="t">
            <a:spAutoFit/>
          </a:bodyPr>
          <a:lstStyle/>
          <a:p>
            <a:pPr marL="0" lvl="0" indent="0" algn="ctr">
              <a:lnSpc>
                <a:spcPts val="8400"/>
              </a:lnSpc>
            </a:pPr>
            <a:r>
              <a:rPr lang="en-US" sz="6000" b="1" spc="300" dirty="0">
                <a:solidFill>
                  <a:srgbClr val="000000"/>
                </a:solidFill>
                <a:latin typeface="Helios Extended Bold"/>
                <a:ea typeface="Helios Extended Bold"/>
                <a:cs typeface="Helios Extended Bold"/>
                <a:sym typeface="Helios Extended Bold"/>
              </a:rPr>
              <a:t>AGENDA OVERVIEW</a:t>
            </a:r>
          </a:p>
        </p:txBody>
      </p:sp>
      <p:sp>
        <p:nvSpPr>
          <p:cNvPr id="3" name="TextBox 3"/>
          <p:cNvSpPr txBox="1"/>
          <p:nvPr/>
        </p:nvSpPr>
        <p:spPr>
          <a:xfrm>
            <a:off x="1882226" y="2129873"/>
            <a:ext cx="4775418" cy="1076251"/>
          </a:xfrm>
          <a:prstGeom prst="rect">
            <a:avLst/>
          </a:prstGeom>
        </p:spPr>
        <p:txBody>
          <a:bodyPr lIns="0" tIns="0" rIns="0" bIns="0" rtlCol="0" anchor="t">
            <a:spAutoFit/>
          </a:bodyPr>
          <a:lstStyle/>
          <a:p>
            <a:pPr marL="0" lvl="0" indent="0" algn="l">
              <a:lnSpc>
                <a:spcPts val="8400"/>
              </a:lnSpc>
            </a:pPr>
            <a:r>
              <a:rPr lang="en-US" sz="6000" b="1" spc="300">
                <a:solidFill>
                  <a:srgbClr val="A79E9C"/>
                </a:solidFill>
                <a:latin typeface="Helios Extended Bold"/>
                <a:ea typeface="Helios Extended Bold"/>
                <a:cs typeface="Helios Extended Bold"/>
                <a:sym typeface="Helios Extended Bold"/>
              </a:rPr>
              <a:t>01</a:t>
            </a:r>
          </a:p>
        </p:txBody>
      </p:sp>
      <p:sp>
        <p:nvSpPr>
          <p:cNvPr id="4" name="TextBox 4"/>
          <p:cNvSpPr txBox="1"/>
          <p:nvPr/>
        </p:nvSpPr>
        <p:spPr>
          <a:xfrm>
            <a:off x="11630356" y="2129873"/>
            <a:ext cx="4775418" cy="1001364"/>
          </a:xfrm>
          <a:prstGeom prst="rect">
            <a:avLst/>
          </a:prstGeom>
        </p:spPr>
        <p:txBody>
          <a:bodyPr lIns="0" tIns="0" rIns="0" bIns="0" rtlCol="0" anchor="t">
            <a:spAutoFit/>
          </a:bodyPr>
          <a:lstStyle/>
          <a:p>
            <a:pPr marL="0" lvl="0" indent="0" algn="l">
              <a:lnSpc>
                <a:spcPts val="8400"/>
              </a:lnSpc>
            </a:pPr>
            <a:r>
              <a:rPr lang="en-US" sz="6000" b="1" spc="300" dirty="0">
                <a:solidFill>
                  <a:srgbClr val="A79E9C"/>
                </a:solidFill>
                <a:latin typeface="Helios Extended Bold"/>
                <a:ea typeface="Helios Extended Bold"/>
                <a:cs typeface="Helios Extended Bold"/>
                <a:sym typeface="Helios Extended Bold"/>
              </a:rPr>
              <a:t>02</a:t>
            </a:r>
          </a:p>
        </p:txBody>
      </p:sp>
      <p:sp>
        <p:nvSpPr>
          <p:cNvPr id="5" name="TextBox 5"/>
          <p:cNvSpPr txBox="1"/>
          <p:nvPr/>
        </p:nvSpPr>
        <p:spPr>
          <a:xfrm>
            <a:off x="1882226" y="3966162"/>
            <a:ext cx="4775418" cy="1001364"/>
          </a:xfrm>
          <a:prstGeom prst="rect">
            <a:avLst/>
          </a:prstGeom>
        </p:spPr>
        <p:txBody>
          <a:bodyPr lIns="0" tIns="0" rIns="0" bIns="0" rtlCol="0" anchor="t">
            <a:spAutoFit/>
          </a:bodyPr>
          <a:lstStyle/>
          <a:p>
            <a:pPr marL="0" lvl="0" indent="0" algn="l">
              <a:lnSpc>
                <a:spcPts val="8400"/>
              </a:lnSpc>
            </a:pPr>
            <a:r>
              <a:rPr lang="en-US" sz="6000" b="1" spc="300" dirty="0">
                <a:solidFill>
                  <a:srgbClr val="A79E9C"/>
                </a:solidFill>
                <a:latin typeface="Helios Extended Bold"/>
                <a:ea typeface="Helios Extended Bold"/>
                <a:cs typeface="Helios Extended Bold"/>
                <a:sym typeface="Helios Extended Bold"/>
              </a:rPr>
              <a:t>03</a:t>
            </a:r>
          </a:p>
        </p:txBody>
      </p:sp>
      <p:sp>
        <p:nvSpPr>
          <p:cNvPr id="6" name="TextBox 6"/>
          <p:cNvSpPr txBox="1"/>
          <p:nvPr/>
        </p:nvSpPr>
        <p:spPr>
          <a:xfrm>
            <a:off x="11630356" y="3966162"/>
            <a:ext cx="4775418" cy="1001364"/>
          </a:xfrm>
          <a:prstGeom prst="rect">
            <a:avLst/>
          </a:prstGeom>
        </p:spPr>
        <p:txBody>
          <a:bodyPr lIns="0" tIns="0" rIns="0" bIns="0" rtlCol="0" anchor="t">
            <a:spAutoFit/>
          </a:bodyPr>
          <a:lstStyle/>
          <a:p>
            <a:pPr marL="0" lvl="0" indent="0" algn="l">
              <a:lnSpc>
                <a:spcPts val="8400"/>
              </a:lnSpc>
            </a:pPr>
            <a:r>
              <a:rPr lang="en-US" sz="6000" b="1" spc="300" dirty="0">
                <a:solidFill>
                  <a:srgbClr val="A79E9C"/>
                </a:solidFill>
                <a:latin typeface="Helios Extended Bold"/>
                <a:ea typeface="Helios Extended Bold"/>
                <a:cs typeface="Helios Extended Bold"/>
                <a:sym typeface="Helios Extended Bold"/>
              </a:rPr>
              <a:t>04</a:t>
            </a:r>
          </a:p>
        </p:txBody>
      </p:sp>
      <p:sp>
        <p:nvSpPr>
          <p:cNvPr id="7" name="TextBox 7"/>
          <p:cNvSpPr txBox="1"/>
          <p:nvPr/>
        </p:nvSpPr>
        <p:spPr>
          <a:xfrm>
            <a:off x="1882226" y="5805615"/>
            <a:ext cx="4775418" cy="1001364"/>
          </a:xfrm>
          <a:prstGeom prst="rect">
            <a:avLst/>
          </a:prstGeom>
        </p:spPr>
        <p:txBody>
          <a:bodyPr lIns="0" tIns="0" rIns="0" bIns="0" rtlCol="0" anchor="t">
            <a:spAutoFit/>
          </a:bodyPr>
          <a:lstStyle/>
          <a:p>
            <a:pPr marL="0" lvl="0" indent="0" algn="l">
              <a:lnSpc>
                <a:spcPts val="8400"/>
              </a:lnSpc>
            </a:pPr>
            <a:r>
              <a:rPr lang="en-US" sz="6000" b="1" spc="300" dirty="0">
                <a:solidFill>
                  <a:srgbClr val="A79E9C"/>
                </a:solidFill>
                <a:latin typeface="Helios Extended Bold"/>
                <a:ea typeface="Helios Extended Bold"/>
                <a:cs typeface="Helios Extended Bold"/>
                <a:sym typeface="Helios Extended Bold"/>
              </a:rPr>
              <a:t>05</a:t>
            </a:r>
          </a:p>
        </p:txBody>
      </p:sp>
      <p:sp>
        <p:nvSpPr>
          <p:cNvPr id="8" name="TextBox 8"/>
          <p:cNvSpPr txBox="1"/>
          <p:nvPr/>
        </p:nvSpPr>
        <p:spPr>
          <a:xfrm>
            <a:off x="11630356" y="5805615"/>
            <a:ext cx="4775418" cy="1001364"/>
          </a:xfrm>
          <a:prstGeom prst="rect">
            <a:avLst/>
          </a:prstGeom>
        </p:spPr>
        <p:txBody>
          <a:bodyPr lIns="0" tIns="0" rIns="0" bIns="0" rtlCol="0" anchor="t">
            <a:spAutoFit/>
          </a:bodyPr>
          <a:lstStyle/>
          <a:p>
            <a:pPr marL="0" lvl="0" indent="0" algn="l">
              <a:lnSpc>
                <a:spcPts val="8400"/>
              </a:lnSpc>
            </a:pPr>
            <a:r>
              <a:rPr lang="en-US" sz="6000" b="1" spc="300" dirty="0">
                <a:solidFill>
                  <a:srgbClr val="A79E9C"/>
                </a:solidFill>
                <a:latin typeface="Helios Extended Bold"/>
                <a:ea typeface="Helios Extended Bold"/>
                <a:cs typeface="Helios Extended Bold"/>
                <a:sym typeface="Helios Extended Bold"/>
              </a:rPr>
              <a:t>06</a:t>
            </a:r>
          </a:p>
        </p:txBody>
      </p:sp>
      <p:sp>
        <p:nvSpPr>
          <p:cNvPr id="9" name="TextBox 9"/>
          <p:cNvSpPr txBox="1"/>
          <p:nvPr/>
        </p:nvSpPr>
        <p:spPr>
          <a:xfrm>
            <a:off x="1882226" y="3275345"/>
            <a:ext cx="4775418" cy="396262"/>
          </a:xfrm>
          <a:prstGeom prst="rect">
            <a:avLst/>
          </a:prstGeom>
        </p:spPr>
        <p:txBody>
          <a:bodyPr lIns="0" tIns="0" rIns="0" bIns="0" rtlCol="0" anchor="t">
            <a:spAutoFit/>
          </a:bodyPr>
          <a:lstStyle/>
          <a:p>
            <a:pPr marL="0" lvl="0" indent="0" algn="l">
              <a:lnSpc>
                <a:spcPts val="3219"/>
              </a:lnSpc>
            </a:pPr>
            <a:r>
              <a:rPr lang="en-US" sz="2299" b="1" spc="229" dirty="0">
                <a:solidFill>
                  <a:srgbClr val="000000"/>
                </a:solidFill>
                <a:latin typeface="Heebo Bold"/>
                <a:ea typeface="Heebo Bold"/>
                <a:cs typeface="Heebo Bold"/>
                <a:sym typeface="Heebo Bold"/>
              </a:rPr>
              <a:t>INTRODUCTION</a:t>
            </a:r>
          </a:p>
        </p:txBody>
      </p:sp>
      <p:sp>
        <p:nvSpPr>
          <p:cNvPr id="10" name="TextBox 10"/>
          <p:cNvSpPr txBox="1"/>
          <p:nvPr/>
        </p:nvSpPr>
        <p:spPr>
          <a:xfrm>
            <a:off x="11630356" y="3275345"/>
            <a:ext cx="4775418" cy="396262"/>
          </a:xfrm>
          <a:prstGeom prst="rect">
            <a:avLst/>
          </a:prstGeom>
        </p:spPr>
        <p:txBody>
          <a:bodyPr lIns="0" tIns="0" rIns="0" bIns="0" rtlCol="0" anchor="t">
            <a:spAutoFit/>
          </a:bodyPr>
          <a:lstStyle/>
          <a:p>
            <a:pPr lvl="0">
              <a:lnSpc>
                <a:spcPts val="3219"/>
              </a:lnSpc>
            </a:pPr>
            <a:r>
              <a:rPr lang="en-US" sz="2299" b="1" spc="229" dirty="0">
                <a:solidFill>
                  <a:srgbClr val="000000"/>
                </a:solidFill>
                <a:latin typeface="Heebo Bold"/>
                <a:ea typeface="Heebo Bold"/>
                <a:cs typeface="Heebo Bold"/>
                <a:sym typeface="Heebo Bold"/>
              </a:rPr>
              <a:t>BACKGROUND OF THE STUDY</a:t>
            </a:r>
          </a:p>
        </p:txBody>
      </p:sp>
      <p:sp>
        <p:nvSpPr>
          <p:cNvPr id="11" name="TextBox 11"/>
          <p:cNvSpPr txBox="1"/>
          <p:nvPr/>
        </p:nvSpPr>
        <p:spPr>
          <a:xfrm>
            <a:off x="1882226" y="5111634"/>
            <a:ext cx="4775418" cy="396262"/>
          </a:xfrm>
          <a:prstGeom prst="rect">
            <a:avLst/>
          </a:prstGeom>
        </p:spPr>
        <p:txBody>
          <a:bodyPr lIns="0" tIns="0" rIns="0" bIns="0" rtlCol="0" anchor="t">
            <a:spAutoFit/>
          </a:bodyPr>
          <a:lstStyle/>
          <a:p>
            <a:pPr lvl="0">
              <a:lnSpc>
                <a:spcPts val="3219"/>
              </a:lnSpc>
            </a:pPr>
            <a:r>
              <a:rPr lang="en-US" sz="2299" b="1" spc="229" dirty="0">
                <a:solidFill>
                  <a:srgbClr val="000000"/>
                </a:solidFill>
                <a:latin typeface="Heebo Bold"/>
                <a:ea typeface="Heebo Bold"/>
                <a:cs typeface="Heebo Bold"/>
                <a:sym typeface="Heebo Bold"/>
              </a:rPr>
              <a:t>DATASET DESCRIPTION</a:t>
            </a:r>
          </a:p>
        </p:txBody>
      </p:sp>
      <p:sp>
        <p:nvSpPr>
          <p:cNvPr id="13" name="TextBox 13"/>
          <p:cNvSpPr txBox="1"/>
          <p:nvPr/>
        </p:nvSpPr>
        <p:spPr>
          <a:xfrm>
            <a:off x="1882226" y="6951087"/>
            <a:ext cx="4775418" cy="396262"/>
          </a:xfrm>
          <a:prstGeom prst="rect">
            <a:avLst/>
          </a:prstGeom>
        </p:spPr>
        <p:txBody>
          <a:bodyPr lIns="0" tIns="0" rIns="0" bIns="0" rtlCol="0" anchor="t">
            <a:spAutoFit/>
          </a:bodyPr>
          <a:lstStyle/>
          <a:p>
            <a:pPr marL="0" lvl="0" indent="0" algn="l">
              <a:lnSpc>
                <a:spcPts val="3219"/>
              </a:lnSpc>
            </a:pPr>
            <a:r>
              <a:rPr lang="en-US" sz="2299" b="1" spc="229" dirty="0">
                <a:solidFill>
                  <a:srgbClr val="000000"/>
                </a:solidFill>
                <a:latin typeface="Heebo Bold"/>
                <a:ea typeface="Heebo Bold"/>
                <a:cs typeface="Heebo Bold"/>
                <a:sym typeface="Heebo Bold"/>
              </a:rPr>
              <a:t>RESULTS &amp; DISCUSION</a:t>
            </a:r>
          </a:p>
        </p:txBody>
      </p:sp>
      <p:sp>
        <p:nvSpPr>
          <p:cNvPr id="14" name="TextBox 14"/>
          <p:cNvSpPr txBox="1"/>
          <p:nvPr/>
        </p:nvSpPr>
        <p:spPr>
          <a:xfrm>
            <a:off x="11630356" y="6951087"/>
            <a:ext cx="4775418" cy="396262"/>
          </a:xfrm>
          <a:prstGeom prst="rect">
            <a:avLst/>
          </a:prstGeom>
        </p:spPr>
        <p:txBody>
          <a:bodyPr lIns="0" tIns="0" rIns="0" bIns="0" rtlCol="0" anchor="t">
            <a:spAutoFit/>
          </a:bodyPr>
          <a:lstStyle/>
          <a:p>
            <a:pPr lvl="0">
              <a:lnSpc>
                <a:spcPts val="3219"/>
              </a:lnSpc>
            </a:pPr>
            <a:r>
              <a:rPr lang="en-US" sz="2299" b="1" spc="229" dirty="0">
                <a:solidFill>
                  <a:srgbClr val="000000"/>
                </a:solidFill>
                <a:latin typeface="Heebo Bold"/>
                <a:ea typeface="Heebo Bold"/>
                <a:cs typeface="Heebo Bold"/>
                <a:sym typeface="Heebo Bold"/>
              </a:rPr>
              <a:t>FIGURES</a:t>
            </a:r>
          </a:p>
        </p:txBody>
      </p:sp>
      <p:sp>
        <p:nvSpPr>
          <p:cNvPr id="15" name="TextBox 15"/>
          <p:cNvSpPr txBox="1"/>
          <p:nvPr/>
        </p:nvSpPr>
        <p:spPr>
          <a:xfrm>
            <a:off x="1882226" y="7645068"/>
            <a:ext cx="4775418" cy="1001364"/>
          </a:xfrm>
          <a:prstGeom prst="rect">
            <a:avLst/>
          </a:prstGeom>
        </p:spPr>
        <p:txBody>
          <a:bodyPr lIns="0" tIns="0" rIns="0" bIns="0" rtlCol="0" anchor="t">
            <a:spAutoFit/>
          </a:bodyPr>
          <a:lstStyle/>
          <a:p>
            <a:pPr marL="0" lvl="0" indent="0" algn="l">
              <a:lnSpc>
                <a:spcPts val="8400"/>
              </a:lnSpc>
            </a:pPr>
            <a:r>
              <a:rPr lang="en-US" sz="6000" b="1" spc="300" dirty="0">
                <a:solidFill>
                  <a:srgbClr val="A79E9C"/>
                </a:solidFill>
                <a:latin typeface="Helios Extended Bold"/>
                <a:ea typeface="Helios Extended Bold"/>
                <a:cs typeface="Helios Extended Bold"/>
                <a:sym typeface="Helios Extended Bold"/>
              </a:rPr>
              <a:t>07</a:t>
            </a:r>
          </a:p>
        </p:txBody>
      </p:sp>
      <p:sp>
        <p:nvSpPr>
          <p:cNvPr id="17" name="TextBox 17"/>
          <p:cNvSpPr txBox="1"/>
          <p:nvPr/>
        </p:nvSpPr>
        <p:spPr>
          <a:xfrm>
            <a:off x="1882226" y="8790540"/>
            <a:ext cx="4775418" cy="806631"/>
          </a:xfrm>
          <a:prstGeom prst="rect">
            <a:avLst/>
          </a:prstGeom>
        </p:spPr>
        <p:txBody>
          <a:bodyPr lIns="0" tIns="0" rIns="0" bIns="0" rtlCol="0" anchor="t">
            <a:spAutoFit/>
          </a:bodyPr>
          <a:lstStyle/>
          <a:p>
            <a:pPr>
              <a:lnSpc>
                <a:spcPts val="3219"/>
              </a:lnSpc>
            </a:pPr>
            <a:r>
              <a:rPr lang="en-US" sz="2299" b="1" spc="229" dirty="0">
                <a:solidFill>
                  <a:srgbClr val="000000"/>
                </a:solidFill>
                <a:latin typeface="Heebo Bold"/>
                <a:ea typeface="Heebo Bold"/>
                <a:cs typeface="Heebo Bold"/>
                <a:sym typeface="Heebo Bold"/>
              </a:rPr>
              <a:t>Grad Cam</a:t>
            </a:r>
          </a:p>
          <a:p>
            <a:pPr marL="0" lvl="0" indent="0" algn="l">
              <a:lnSpc>
                <a:spcPts val="3219"/>
              </a:lnSpc>
            </a:pPr>
            <a:endParaRPr lang="en-US" sz="2299" b="1" spc="229" dirty="0">
              <a:solidFill>
                <a:srgbClr val="000000"/>
              </a:solidFill>
              <a:latin typeface="Heebo Bold"/>
              <a:ea typeface="Heebo Bold"/>
              <a:cs typeface="Heebo Bold"/>
              <a:sym typeface="Heebo Bold"/>
            </a:endParaRPr>
          </a:p>
        </p:txBody>
      </p:sp>
      <p:sp>
        <p:nvSpPr>
          <p:cNvPr id="19" name="AutoShape 19"/>
          <p:cNvSpPr/>
          <p:nvPr/>
        </p:nvSpPr>
        <p:spPr>
          <a:xfrm>
            <a:off x="9144000" y="5967540"/>
            <a:ext cx="28575" cy="4319460"/>
          </a:xfrm>
          <a:prstGeom prst="line">
            <a:avLst/>
          </a:prstGeom>
          <a:ln w="57150" cap="flat">
            <a:solidFill>
              <a:srgbClr val="4E6E81"/>
            </a:solidFill>
            <a:prstDash val="sysDash"/>
            <a:headEnd type="none" w="sm" len="sm"/>
            <a:tailEnd type="none" w="sm" len="sm"/>
          </a:ln>
        </p:spPr>
      </p:sp>
      <p:grpSp>
        <p:nvGrpSpPr>
          <p:cNvPr id="20" name="Group 20"/>
          <p:cNvGrpSpPr/>
          <p:nvPr/>
        </p:nvGrpSpPr>
        <p:grpSpPr>
          <a:xfrm>
            <a:off x="17259300" y="9258300"/>
            <a:ext cx="248490" cy="248490"/>
            <a:chOff x="0" y="0"/>
            <a:chExt cx="812800" cy="812800"/>
          </a:xfrm>
        </p:grpSpPr>
        <p:sp>
          <p:nvSpPr>
            <p:cNvPr id="21" name="Freeform 2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22" name="TextBox 22"/>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23" name="Group 23"/>
          <p:cNvGrpSpPr/>
          <p:nvPr/>
        </p:nvGrpSpPr>
        <p:grpSpPr>
          <a:xfrm>
            <a:off x="780210" y="780210"/>
            <a:ext cx="248490" cy="248490"/>
            <a:chOff x="0" y="0"/>
            <a:chExt cx="812800" cy="812800"/>
          </a:xfrm>
        </p:grpSpPr>
        <p:sp>
          <p:nvSpPr>
            <p:cNvPr id="24" name="Freeform 2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25" name="TextBox 25"/>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27" name="TextBox 26">
            <a:extLst>
              <a:ext uri="{FF2B5EF4-FFF2-40B4-BE49-F238E27FC236}">
                <a16:creationId xmlns:a16="http://schemas.microsoft.com/office/drawing/2014/main" id="{358B7A1B-90B1-14B7-DF65-BD8C7FB034E8}"/>
              </a:ext>
            </a:extLst>
          </p:cNvPr>
          <p:cNvSpPr txBox="1"/>
          <p:nvPr/>
        </p:nvSpPr>
        <p:spPr>
          <a:xfrm>
            <a:off x="11630356" y="5009908"/>
            <a:ext cx="9144000" cy="488595"/>
          </a:xfrm>
          <a:prstGeom prst="rect">
            <a:avLst/>
          </a:prstGeom>
          <a:noFill/>
        </p:spPr>
        <p:txBody>
          <a:bodyPr wrap="square">
            <a:spAutoFit/>
          </a:bodyPr>
          <a:lstStyle/>
          <a:p>
            <a:pPr lvl="0">
              <a:lnSpc>
                <a:spcPts val="3219"/>
              </a:lnSpc>
            </a:pPr>
            <a:r>
              <a:rPr lang="en-US" sz="2300" b="1" spc="229" dirty="0">
                <a:solidFill>
                  <a:srgbClr val="000000"/>
                </a:solidFill>
                <a:latin typeface="Heebo Bold"/>
                <a:ea typeface="Heebo Bold"/>
                <a:cs typeface="Heebo Bold"/>
                <a:sym typeface="Heebo Bold"/>
              </a:rPr>
              <a:t>METHODOLOGY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6539" y="9157885"/>
            <a:ext cx="533846" cy="589367"/>
          </a:xfrm>
          <a:custGeom>
            <a:avLst/>
            <a:gdLst/>
            <a:ahLst/>
            <a:cxnLst/>
            <a:rect l="l" t="t" r="r" b="b"/>
            <a:pathLst>
              <a:path w="533846" h="589367">
                <a:moveTo>
                  <a:pt x="0" y="0"/>
                </a:moveTo>
                <a:lnTo>
                  <a:pt x="533846" y="0"/>
                </a:lnTo>
                <a:lnTo>
                  <a:pt x="533846" y="589367"/>
                </a:lnTo>
                <a:lnTo>
                  <a:pt x="0" y="5893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a:off x="1033462" y="0"/>
            <a:ext cx="0" cy="3768928"/>
          </a:xfrm>
          <a:prstGeom prst="line">
            <a:avLst/>
          </a:prstGeom>
          <a:ln w="57150" cap="flat">
            <a:solidFill>
              <a:srgbClr val="4E6E81"/>
            </a:solidFill>
            <a:prstDash val="sysDash"/>
            <a:headEnd type="none" w="sm" len="sm"/>
            <a:tailEnd type="none" w="sm" len="sm"/>
          </a:ln>
        </p:spPr>
      </p:sp>
      <p:grpSp>
        <p:nvGrpSpPr>
          <p:cNvPr id="4" name="Group 4"/>
          <p:cNvGrpSpPr/>
          <p:nvPr/>
        </p:nvGrpSpPr>
        <p:grpSpPr>
          <a:xfrm>
            <a:off x="8001007" y="0"/>
            <a:ext cx="10286993" cy="10287000"/>
            <a:chOff x="0" y="0"/>
            <a:chExt cx="2709331" cy="2709333"/>
          </a:xfrm>
        </p:grpSpPr>
        <p:sp>
          <p:nvSpPr>
            <p:cNvPr id="5" name="Freeform 5"/>
            <p:cNvSpPr/>
            <p:nvPr/>
          </p:nvSpPr>
          <p:spPr>
            <a:xfrm>
              <a:off x="0" y="0"/>
              <a:ext cx="2709331" cy="2709333"/>
            </a:xfrm>
            <a:custGeom>
              <a:avLst/>
              <a:gdLst/>
              <a:ahLst/>
              <a:cxnLst/>
              <a:rect l="l" t="t" r="r" b="b"/>
              <a:pathLst>
                <a:path w="2709331" h="2709333">
                  <a:moveTo>
                    <a:pt x="0" y="0"/>
                  </a:moveTo>
                  <a:lnTo>
                    <a:pt x="2709331" y="0"/>
                  </a:lnTo>
                  <a:lnTo>
                    <a:pt x="2709331" y="2709333"/>
                  </a:lnTo>
                  <a:lnTo>
                    <a:pt x="0" y="2709333"/>
                  </a:lnTo>
                  <a:close/>
                </a:path>
              </a:pathLst>
            </a:custGeom>
            <a:solidFill>
              <a:srgbClr val="F2F1F1">
                <a:alpha val="80000"/>
              </a:srgbClr>
            </a:solidFill>
          </p:spPr>
        </p:sp>
        <p:sp>
          <p:nvSpPr>
            <p:cNvPr id="6" name="TextBox 6"/>
            <p:cNvSpPr txBox="1"/>
            <p:nvPr/>
          </p:nvSpPr>
          <p:spPr>
            <a:xfrm>
              <a:off x="0" y="-47625"/>
              <a:ext cx="2709331" cy="2756958"/>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1421061" y="1493921"/>
            <a:ext cx="6996120" cy="1001364"/>
          </a:xfrm>
          <a:prstGeom prst="rect">
            <a:avLst/>
          </a:prstGeom>
        </p:spPr>
        <p:txBody>
          <a:bodyPr lIns="0" tIns="0" rIns="0" bIns="0" rtlCol="0" anchor="t">
            <a:spAutoFit/>
          </a:bodyPr>
          <a:lstStyle/>
          <a:p>
            <a:pPr marL="0" lvl="0" indent="0" algn="l">
              <a:lnSpc>
                <a:spcPts val="8400"/>
              </a:lnSpc>
            </a:pPr>
            <a:r>
              <a:rPr lang="en-US" sz="6000" b="1" spc="300" dirty="0">
                <a:solidFill>
                  <a:srgbClr val="000000"/>
                </a:solidFill>
                <a:latin typeface="Helios Extended Bold"/>
                <a:ea typeface="Helios Extended Bold"/>
                <a:cs typeface="Helios Extended Bold"/>
                <a:sym typeface="Helios Extended Bold"/>
              </a:rPr>
              <a:t>Introduction</a:t>
            </a:r>
          </a:p>
        </p:txBody>
      </p:sp>
      <p:sp>
        <p:nvSpPr>
          <p:cNvPr id="9" name="TextBox 9"/>
          <p:cNvSpPr txBox="1"/>
          <p:nvPr/>
        </p:nvSpPr>
        <p:spPr>
          <a:xfrm>
            <a:off x="8506278" y="1461105"/>
            <a:ext cx="9117323" cy="8010463"/>
          </a:xfrm>
          <a:prstGeom prst="rect">
            <a:avLst/>
          </a:prstGeom>
        </p:spPr>
        <p:txBody>
          <a:bodyPr wrap="square" lIns="0" tIns="0" rIns="0" bIns="0" rtlCol="0" anchor="t">
            <a:spAutoFit/>
          </a:bodyPr>
          <a:lstStyle/>
          <a:p>
            <a:pPr lvl="0">
              <a:lnSpc>
                <a:spcPts val="3679"/>
              </a:lnSpc>
            </a:pPr>
            <a:r>
              <a:rPr lang="en-US" sz="2299" spc="229" dirty="0">
                <a:solidFill>
                  <a:srgbClr val="000000"/>
                </a:solidFill>
                <a:latin typeface="Lato"/>
                <a:ea typeface="Lato"/>
                <a:cs typeface="Lato"/>
                <a:sym typeface="Lato"/>
              </a:rPr>
              <a:t>Grapes are one of the most widely cultivated fruits worldwide, contributing significantly to the global agricultural </a:t>
            </a:r>
            <a:r>
              <a:rPr lang="en-US" sz="2299" spc="229" dirty="0" err="1">
                <a:solidFill>
                  <a:srgbClr val="000000"/>
                </a:solidFill>
                <a:latin typeface="Lato"/>
                <a:ea typeface="Lato"/>
                <a:cs typeface="Lato"/>
                <a:sym typeface="Lato"/>
              </a:rPr>
              <a:t>economy.However</a:t>
            </a:r>
            <a:r>
              <a:rPr lang="en-US" sz="2299" spc="229" dirty="0">
                <a:solidFill>
                  <a:srgbClr val="000000"/>
                </a:solidFill>
                <a:latin typeface="Lato"/>
                <a:ea typeface="Lato"/>
                <a:cs typeface="Lato"/>
                <a:sym typeface="Lato"/>
              </a:rPr>
              <a:t>, grape yield and quality are highly susceptible to various leaf diseases, including Bacterial Rot, Downy </a:t>
            </a:r>
            <a:r>
              <a:rPr lang="en-US" sz="2299" spc="229" dirty="0" err="1">
                <a:solidFill>
                  <a:srgbClr val="000000"/>
                </a:solidFill>
                <a:latin typeface="Lato"/>
                <a:ea typeface="Lato"/>
                <a:cs typeface="Lato"/>
                <a:sym typeface="Lato"/>
              </a:rPr>
              <a:t>Mildew,Powdery</a:t>
            </a:r>
            <a:r>
              <a:rPr lang="en-US" sz="2299" spc="229" dirty="0">
                <a:solidFill>
                  <a:srgbClr val="000000"/>
                </a:solidFill>
                <a:latin typeface="Lato"/>
                <a:ea typeface="Lato"/>
                <a:cs typeface="Lato"/>
                <a:sym typeface="Lato"/>
              </a:rPr>
              <a:t> Mildew, and others. Early and accurate detection of these diseases is crucial for effective vineyard </a:t>
            </a:r>
            <a:r>
              <a:rPr lang="en-US" sz="2299" spc="229" dirty="0" err="1">
                <a:solidFill>
                  <a:srgbClr val="000000"/>
                </a:solidFill>
                <a:latin typeface="Lato"/>
                <a:ea typeface="Lato"/>
                <a:cs typeface="Lato"/>
                <a:sym typeface="Lato"/>
              </a:rPr>
              <a:t>management,reducing</a:t>
            </a:r>
            <a:r>
              <a:rPr lang="en-US" sz="2299" spc="229" dirty="0">
                <a:solidFill>
                  <a:srgbClr val="000000"/>
                </a:solidFill>
                <a:latin typeface="Lato"/>
                <a:ea typeface="Lato"/>
                <a:cs typeface="Lato"/>
                <a:sym typeface="Lato"/>
              </a:rPr>
              <a:t> crop losses, and minimizing the use of harmful pesticides. Traditional disease detection methods rely on expert </a:t>
            </a:r>
            <a:r>
              <a:rPr lang="en-US" sz="2299" spc="229" dirty="0" err="1">
                <a:solidFill>
                  <a:srgbClr val="000000"/>
                </a:solidFill>
                <a:latin typeface="Lato"/>
                <a:ea typeface="Lato"/>
                <a:cs typeface="Lato"/>
                <a:sym typeface="Lato"/>
              </a:rPr>
              <a:t>visualinspection</a:t>
            </a:r>
            <a:r>
              <a:rPr lang="en-US" sz="2299" spc="229" dirty="0">
                <a:solidFill>
                  <a:srgbClr val="000000"/>
                </a:solidFill>
                <a:latin typeface="Lato"/>
                <a:ea typeface="Lato"/>
                <a:cs typeface="Lato"/>
                <a:sym typeface="Lato"/>
              </a:rPr>
              <a:t>, which is labor-intensive, time-consuming, and prone to human error, particularly under large-scale field </a:t>
            </a:r>
            <a:r>
              <a:rPr lang="en-US" sz="2299" spc="229" dirty="0" err="1">
                <a:solidFill>
                  <a:srgbClr val="000000"/>
                </a:solidFill>
                <a:latin typeface="Lato"/>
                <a:ea typeface="Lato"/>
                <a:cs typeface="Lato"/>
                <a:sym typeface="Lato"/>
              </a:rPr>
              <a:t>conditions.Recent</a:t>
            </a:r>
            <a:r>
              <a:rPr lang="en-US" sz="2299" spc="229" dirty="0">
                <a:solidFill>
                  <a:srgbClr val="000000"/>
                </a:solidFill>
                <a:latin typeface="Lato"/>
                <a:ea typeface="Lato"/>
                <a:cs typeface="Lato"/>
                <a:sym typeface="Lato"/>
              </a:rPr>
              <a:t> advances in computer vision and deep learning have enabled automated plant disease detection using image-</a:t>
            </a:r>
            <a:r>
              <a:rPr lang="en-US" sz="2299" spc="229" dirty="0" err="1">
                <a:solidFill>
                  <a:srgbClr val="000000"/>
                </a:solidFill>
                <a:latin typeface="Lato"/>
                <a:ea typeface="Lato"/>
                <a:cs typeface="Lato"/>
                <a:sym typeface="Lato"/>
              </a:rPr>
              <a:t>basedanalysis</a:t>
            </a:r>
            <a:r>
              <a:rPr lang="en-US" sz="2299" spc="229" dirty="0">
                <a:solidFill>
                  <a:srgbClr val="000000"/>
                </a:solidFill>
                <a:latin typeface="Lato"/>
                <a:ea typeface="Lato"/>
                <a:cs typeface="Lato"/>
                <a:sym typeface="Lato"/>
              </a:rPr>
              <a:t>. Convolutional neural networks (CNNs) and vision transformers have shown promising results in classifying </a:t>
            </a:r>
            <a:r>
              <a:rPr lang="en-US" sz="2299" spc="229" dirty="0" err="1">
                <a:solidFill>
                  <a:srgbClr val="000000"/>
                </a:solidFill>
                <a:latin typeface="Lato"/>
                <a:ea typeface="Lato"/>
                <a:cs typeface="Lato"/>
                <a:sym typeface="Lato"/>
              </a:rPr>
              <a:t>diseasesacross</a:t>
            </a:r>
            <a:r>
              <a:rPr lang="en-US" sz="2299" spc="229" dirty="0">
                <a:solidFill>
                  <a:srgbClr val="000000"/>
                </a:solidFill>
                <a:latin typeface="Lato"/>
                <a:ea typeface="Lato"/>
                <a:cs typeface="Lato"/>
                <a:sym typeface="Lato"/>
              </a:rPr>
              <a:t> multiple crops.</a:t>
            </a:r>
          </a:p>
        </p:txBody>
      </p:sp>
      <p:grpSp>
        <p:nvGrpSpPr>
          <p:cNvPr id="10" name="Group 10"/>
          <p:cNvGrpSpPr/>
          <p:nvPr/>
        </p:nvGrpSpPr>
        <p:grpSpPr>
          <a:xfrm>
            <a:off x="17010810" y="1028700"/>
            <a:ext cx="248490" cy="24849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2" name="TextBox 12"/>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pic>
        <p:nvPicPr>
          <p:cNvPr id="14" name="Picture 13">
            <a:extLst>
              <a:ext uri="{FF2B5EF4-FFF2-40B4-BE49-F238E27FC236}">
                <a16:creationId xmlns:a16="http://schemas.microsoft.com/office/drawing/2014/main" id="{C1A9C8CA-CEB2-9610-E9B6-75E87905CA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864" y="3417673"/>
            <a:ext cx="7022606" cy="53949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590063" y="8668933"/>
            <a:ext cx="533846" cy="589367"/>
          </a:xfrm>
          <a:custGeom>
            <a:avLst/>
            <a:gdLst/>
            <a:ahLst/>
            <a:cxnLst/>
            <a:rect l="l" t="t" r="r" b="b"/>
            <a:pathLst>
              <a:path w="533846" h="589367">
                <a:moveTo>
                  <a:pt x="0" y="0"/>
                </a:moveTo>
                <a:lnTo>
                  <a:pt x="533846" y="0"/>
                </a:lnTo>
                <a:lnTo>
                  <a:pt x="533846" y="589367"/>
                </a:lnTo>
                <a:lnTo>
                  <a:pt x="0" y="5893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968534" y="380952"/>
            <a:ext cx="10536137" cy="936923"/>
          </a:xfrm>
          <a:prstGeom prst="rect">
            <a:avLst/>
          </a:prstGeom>
        </p:spPr>
        <p:txBody>
          <a:bodyPr wrap="square" lIns="0" tIns="0" rIns="0" bIns="0" rtlCol="0" anchor="t">
            <a:spAutoFit/>
          </a:bodyPr>
          <a:lstStyle/>
          <a:p>
            <a:pPr marL="0" lvl="0" indent="0" algn="l">
              <a:lnSpc>
                <a:spcPts val="8400"/>
              </a:lnSpc>
            </a:pPr>
            <a:r>
              <a:rPr lang="en-US" sz="4000" b="1" spc="300" dirty="0">
                <a:solidFill>
                  <a:srgbClr val="000000"/>
                </a:solidFill>
                <a:latin typeface="Helios Extended Bold"/>
                <a:ea typeface="Helios Extended Bold"/>
                <a:cs typeface="Helios Extended Bold"/>
                <a:sym typeface="Helios Extended Bold"/>
              </a:rPr>
              <a:t>BACKGROUND OF THE STUDY</a:t>
            </a:r>
          </a:p>
        </p:txBody>
      </p:sp>
      <p:sp>
        <p:nvSpPr>
          <p:cNvPr id="8" name="AutoShape 8"/>
          <p:cNvSpPr/>
          <p:nvPr/>
        </p:nvSpPr>
        <p:spPr>
          <a:xfrm>
            <a:off x="550043" y="0"/>
            <a:ext cx="0" cy="3768928"/>
          </a:xfrm>
          <a:prstGeom prst="line">
            <a:avLst/>
          </a:prstGeom>
          <a:ln w="57150" cap="flat">
            <a:solidFill>
              <a:srgbClr val="4E6E81"/>
            </a:solidFill>
            <a:prstDash val="sysDash"/>
            <a:headEnd type="none" w="sm" len="sm"/>
            <a:tailEnd type="none" w="sm" len="sm"/>
          </a:ln>
        </p:spPr>
      </p:sp>
      <p:grpSp>
        <p:nvGrpSpPr>
          <p:cNvPr id="9" name="Group 9"/>
          <p:cNvGrpSpPr/>
          <p:nvPr/>
        </p:nvGrpSpPr>
        <p:grpSpPr>
          <a:xfrm>
            <a:off x="17010810" y="9258300"/>
            <a:ext cx="248490" cy="248490"/>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1" name="TextBox 11"/>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13" name="TextBox 12">
            <a:extLst>
              <a:ext uri="{FF2B5EF4-FFF2-40B4-BE49-F238E27FC236}">
                <a16:creationId xmlns:a16="http://schemas.microsoft.com/office/drawing/2014/main" id="{BFBC844C-7E51-7CDE-84D9-779BF5282EAC}"/>
              </a:ext>
            </a:extLst>
          </p:cNvPr>
          <p:cNvSpPr txBox="1"/>
          <p:nvPr/>
        </p:nvSpPr>
        <p:spPr>
          <a:xfrm>
            <a:off x="1600200" y="1721943"/>
            <a:ext cx="14630399" cy="584775"/>
          </a:xfrm>
          <a:prstGeom prst="rect">
            <a:avLst/>
          </a:prstGeom>
          <a:noFill/>
        </p:spPr>
        <p:txBody>
          <a:bodyPr wrap="square" rtlCol="0">
            <a:spAutoFit/>
          </a:bodyPr>
          <a:lstStyle/>
          <a:p>
            <a:r>
              <a:rPr lang="en-US" sz="3200" dirty="0"/>
              <a:t>Summary table of Studies on Grape Disease Detection using Machine Learning:</a:t>
            </a:r>
          </a:p>
        </p:txBody>
      </p:sp>
      <p:pic>
        <p:nvPicPr>
          <p:cNvPr id="15" name="Picture 14">
            <a:extLst>
              <a:ext uri="{FF2B5EF4-FFF2-40B4-BE49-F238E27FC236}">
                <a16:creationId xmlns:a16="http://schemas.microsoft.com/office/drawing/2014/main" id="{5842CB7F-321E-937C-F493-1E2F0E7F5F61}"/>
              </a:ext>
            </a:extLst>
          </p:cNvPr>
          <p:cNvPicPr>
            <a:picLocks noChangeAspect="1"/>
          </p:cNvPicPr>
          <p:nvPr/>
        </p:nvPicPr>
        <p:blipFill>
          <a:blip r:embed="rId4"/>
          <a:stretch>
            <a:fillRect/>
          </a:stretch>
        </p:blipFill>
        <p:spPr>
          <a:xfrm>
            <a:off x="1294998" y="2476500"/>
            <a:ext cx="15698004" cy="65255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97114" y="295763"/>
            <a:ext cx="11498330" cy="949812"/>
          </a:xfrm>
          <a:prstGeom prst="rect">
            <a:avLst/>
          </a:prstGeom>
        </p:spPr>
        <p:txBody>
          <a:bodyPr wrap="square" lIns="0" tIns="0" rIns="0" bIns="0" rtlCol="0" anchor="t">
            <a:spAutoFit/>
          </a:bodyPr>
          <a:lstStyle/>
          <a:p>
            <a:pPr marL="0" lvl="0" indent="0" algn="ctr">
              <a:lnSpc>
                <a:spcPts val="8400"/>
              </a:lnSpc>
            </a:pPr>
            <a:r>
              <a:rPr lang="en-US" sz="4400" b="1" spc="300" dirty="0">
                <a:solidFill>
                  <a:srgbClr val="000000"/>
                </a:solidFill>
                <a:latin typeface="Helios Extended Bold"/>
                <a:ea typeface="Helios Extended Bold"/>
                <a:cs typeface="Helios Extended Bold"/>
                <a:sym typeface="Helios Extended Bold"/>
              </a:rPr>
              <a:t>Dataset Description</a:t>
            </a:r>
          </a:p>
        </p:txBody>
      </p:sp>
      <p:sp>
        <p:nvSpPr>
          <p:cNvPr id="5" name="TextBox 5"/>
          <p:cNvSpPr txBox="1"/>
          <p:nvPr/>
        </p:nvSpPr>
        <p:spPr>
          <a:xfrm>
            <a:off x="1379469" y="1590548"/>
            <a:ext cx="15529061" cy="492443"/>
          </a:xfrm>
          <a:prstGeom prst="rect">
            <a:avLst/>
          </a:prstGeom>
        </p:spPr>
        <p:txBody>
          <a:bodyPr lIns="0" tIns="0" rIns="0" bIns="0" rtlCol="0" anchor="t">
            <a:spAutoFit/>
          </a:bodyPr>
          <a:lstStyle/>
          <a:p>
            <a:r>
              <a:rPr lang="en-US" sz="3200" b="1" dirty="0" err="1"/>
              <a:t>Niphad</a:t>
            </a:r>
            <a:r>
              <a:rPr lang="en-US" sz="3200" b="1" dirty="0"/>
              <a:t> Grape Leaf Disease Dataset (NGLD)</a:t>
            </a:r>
          </a:p>
        </p:txBody>
      </p:sp>
      <p:grpSp>
        <p:nvGrpSpPr>
          <p:cNvPr id="13" name="Group 13"/>
          <p:cNvGrpSpPr/>
          <p:nvPr/>
        </p:nvGrpSpPr>
        <p:grpSpPr>
          <a:xfrm>
            <a:off x="1028700" y="9009810"/>
            <a:ext cx="248490" cy="248490"/>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5" name="TextBox 15"/>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16" name="Group 16"/>
          <p:cNvGrpSpPr/>
          <p:nvPr/>
        </p:nvGrpSpPr>
        <p:grpSpPr>
          <a:xfrm>
            <a:off x="17010810" y="1028700"/>
            <a:ext cx="248490" cy="248490"/>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8" name="TextBox 18"/>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19" name="AutoShape 19"/>
          <p:cNvSpPr/>
          <p:nvPr/>
        </p:nvSpPr>
        <p:spPr>
          <a:xfrm flipH="1">
            <a:off x="1033463" y="0"/>
            <a:ext cx="0" cy="3334176"/>
          </a:xfrm>
          <a:prstGeom prst="line">
            <a:avLst/>
          </a:prstGeom>
          <a:ln w="57150" cap="flat">
            <a:solidFill>
              <a:srgbClr val="4E6E81"/>
            </a:solidFill>
            <a:prstDash val="sysDash"/>
            <a:headEnd type="none" w="sm" len="sm"/>
            <a:tailEnd type="none" w="sm" len="sm"/>
          </a:ln>
        </p:spPr>
      </p:sp>
      <p:sp>
        <p:nvSpPr>
          <p:cNvPr id="20" name="TextBox 19">
            <a:extLst>
              <a:ext uri="{FF2B5EF4-FFF2-40B4-BE49-F238E27FC236}">
                <a16:creationId xmlns:a16="http://schemas.microsoft.com/office/drawing/2014/main" id="{4358FB57-2C61-9AAA-5327-020826092B04}"/>
              </a:ext>
            </a:extLst>
          </p:cNvPr>
          <p:cNvSpPr txBox="1"/>
          <p:nvPr/>
        </p:nvSpPr>
        <p:spPr>
          <a:xfrm>
            <a:off x="1249628" y="2090287"/>
            <a:ext cx="13563600" cy="7971413"/>
          </a:xfrm>
          <a:prstGeom prst="rect">
            <a:avLst/>
          </a:prstGeom>
          <a:noFill/>
        </p:spPr>
        <p:txBody>
          <a:bodyPr wrap="square" rtlCol="0">
            <a:spAutoFit/>
          </a:bodyPr>
          <a:lstStyle/>
          <a:p>
            <a:pPr>
              <a:buNone/>
            </a:pPr>
            <a:r>
              <a:rPr lang="en-US" sz="3200" b="1" dirty="0"/>
              <a:t>Dataset Description</a:t>
            </a:r>
          </a:p>
          <a:p>
            <a:pPr>
              <a:buFont typeface="Arial" panose="020B0604020202020204" pitchFamily="34" charset="0"/>
              <a:buChar char="•"/>
            </a:pPr>
            <a:r>
              <a:rPr lang="en-US" sz="3200" b="1" dirty="0"/>
              <a:t>Collection</a:t>
            </a:r>
            <a:r>
              <a:rPr lang="en-US" sz="3200" dirty="0"/>
              <a:t>: 2,726 high-quality images of Table Grape leaves</a:t>
            </a:r>
          </a:p>
          <a:p>
            <a:pPr>
              <a:buFont typeface="Arial" panose="020B0604020202020204" pitchFamily="34" charset="0"/>
              <a:buChar char="•"/>
            </a:pPr>
            <a:r>
              <a:rPr lang="en-US" sz="3200" b="1" dirty="0"/>
              <a:t>Categories</a:t>
            </a:r>
            <a:r>
              <a:rPr lang="en-US" sz="3200" dirty="0"/>
              <a:t>:</a:t>
            </a:r>
          </a:p>
          <a:p>
            <a:pPr marL="742950" lvl="1" indent="-285750">
              <a:buFont typeface="Arial" panose="020B0604020202020204" pitchFamily="34" charset="0"/>
              <a:buChar char="•"/>
            </a:pPr>
            <a:r>
              <a:rPr lang="en-US" sz="3200" dirty="0"/>
              <a:t>Downy Mildew</a:t>
            </a:r>
          </a:p>
          <a:p>
            <a:pPr marL="742950" lvl="1" indent="-285750">
              <a:buFont typeface="Arial" panose="020B0604020202020204" pitchFamily="34" charset="0"/>
              <a:buChar char="•"/>
            </a:pPr>
            <a:r>
              <a:rPr lang="en-US" sz="3200" dirty="0"/>
              <a:t>Bacterial Rot</a:t>
            </a:r>
          </a:p>
          <a:p>
            <a:pPr marL="742950" lvl="1" indent="-285750">
              <a:buFont typeface="Arial" panose="020B0604020202020204" pitchFamily="34" charset="0"/>
              <a:buChar char="•"/>
            </a:pPr>
            <a:r>
              <a:rPr lang="en-US" sz="3200" dirty="0"/>
              <a:t>Powdery Mildew</a:t>
            </a:r>
          </a:p>
          <a:p>
            <a:pPr marL="742950" lvl="1" indent="-285750">
              <a:buFont typeface="Arial" panose="020B0604020202020204" pitchFamily="34" charset="0"/>
              <a:buChar char="•"/>
            </a:pPr>
            <a:r>
              <a:rPr lang="en-US" sz="3200" dirty="0"/>
              <a:t>Healthy Leaves</a:t>
            </a:r>
          </a:p>
          <a:p>
            <a:pPr>
              <a:buFont typeface="Arial" panose="020B0604020202020204" pitchFamily="34" charset="0"/>
              <a:buChar char="•"/>
            </a:pPr>
            <a:r>
              <a:rPr lang="en-US" sz="3200" b="1" dirty="0"/>
              <a:t>Purpose</a:t>
            </a:r>
            <a:r>
              <a:rPr lang="en-US" sz="3200" dirty="0"/>
              <a:t>:</a:t>
            </a:r>
          </a:p>
          <a:p>
            <a:pPr marL="742950" lvl="1" indent="-285750">
              <a:buFont typeface="Arial" panose="020B0604020202020204" pitchFamily="34" charset="0"/>
              <a:buChar char="•"/>
            </a:pPr>
            <a:r>
              <a:rPr lang="en-US" sz="3200" dirty="0"/>
              <a:t>Ideal for </a:t>
            </a:r>
            <a:r>
              <a:rPr lang="en-US" sz="3200" b="1" dirty="0"/>
              <a:t>Machine Learning</a:t>
            </a:r>
            <a:r>
              <a:rPr lang="en-US" sz="3200" dirty="0"/>
              <a:t>, </a:t>
            </a:r>
            <a:r>
              <a:rPr lang="en-US" sz="3200" b="1" dirty="0"/>
              <a:t>Plant Pathology</a:t>
            </a:r>
            <a:r>
              <a:rPr lang="en-US" sz="3200" dirty="0"/>
              <a:t>, and </a:t>
            </a:r>
          </a:p>
          <a:p>
            <a:pPr lvl="1"/>
            <a:r>
              <a:rPr lang="en-US" sz="3200" b="1" dirty="0"/>
              <a:t>   Agricultural Research</a:t>
            </a:r>
            <a:endParaRPr lang="en-US" sz="3200" dirty="0"/>
          </a:p>
          <a:p>
            <a:pPr marL="742950" lvl="1" indent="-285750">
              <a:buFont typeface="Arial" panose="020B0604020202020204" pitchFamily="34" charset="0"/>
              <a:buChar char="•"/>
            </a:pPr>
            <a:r>
              <a:rPr lang="en-US" sz="3200" dirty="0"/>
              <a:t>Used for training AI models to </a:t>
            </a:r>
            <a:r>
              <a:rPr lang="en-US" sz="3200" b="1" dirty="0"/>
              <a:t>recognize</a:t>
            </a:r>
            <a:r>
              <a:rPr lang="en-US" sz="3200" dirty="0"/>
              <a:t>, </a:t>
            </a:r>
            <a:r>
              <a:rPr lang="en-US" sz="3200" b="1" dirty="0"/>
              <a:t>classify</a:t>
            </a:r>
            <a:r>
              <a:rPr lang="en-US" sz="3200" dirty="0"/>
              <a:t>, and</a:t>
            </a:r>
          </a:p>
          <a:p>
            <a:pPr lvl="1"/>
            <a:r>
              <a:rPr lang="en-US" sz="3200" dirty="0"/>
              <a:t>   </a:t>
            </a:r>
            <a:r>
              <a:rPr lang="en-US" sz="3200" b="1" dirty="0"/>
              <a:t>diagnose</a:t>
            </a:r>
            <a:r>
              <a:rPr lang="en-US" sz="3200" dirty="0"/>
              <a:t> table grape leaf diseases based on visual </a:t>
            </a:r>
          </a:p>
          <a:p>
            <a:pPr lvl="1"/>
            <a:r>
              <a:rPr lang="en-US" sz="3200" dirty="0"/>
              <a:t>   symptoms</a:t>
            </a:r>
          </a:p>
          <a:p>
            <a:pPr marL="742950" lvl="1" indent="-285750">
              <a:buFont typeface="Arial" panose="020B0604020202020204" pitchFamily="34" charset="0"/>
              <a:buChar char="•"/>
            </a:pPr>
            <a:r>
              <a:rPr lang="en-US" sz="3200" dirty="0"/>
              <a:t>Aids in developing </a:t>
            </a:r>
            <a:r>
              <a:rPr lang="en-US" sz="3200" b="1" dirty="0"/>
              <a:t>automated plant disease detection systems</a:t>
            </a:r>
            <a:r>
              <a:rPr lang="en-US" sz="3200" dirty="0"/>
              <a:t> for precision agriculture</a:t>
            </a:r>
          </a:p>
          <a:p>
            <a:endParaRPr lang="en-US" sz="3200" dirty="0"/>
          </a:p>
        </p:txBody>
      </p:sp>
      <p:pic>
        <p:nvPicPr>
          <p:cNvPr id="21" name="Google Shape;58;p13" title="output.png">
            <a:extLst>
              <a:ext uri="{FF2B5EF4-FFF2-40B4-BE49-F238E27FC236}">
                <a16:creationId xmlns:a16="http://schemas.microsoft.com/office/drawing/2014/main" id="{33822F8C-9778-298F-2A06-E3EC50A0E43A}"/>
              </a:ext>
            </a:extLst>
          </p:cNvPr>
          <p:cNvPicPr preferRelativeResize="0"/>
          <p:nvPr/>
        </p:nvPicPr>
        <p:blipFill>
          <a:blip r:embed="rId2">
            <a:alphaModFix/>
          </a:blip>
          <a:stretch>
            <a:fillRect/>
          </a:stretch>
        </p:blipFill>
        <p:spPr>
          <a:xfrm>
            <a:off x="11297490" y="2427964"/>
            <a:ext cx="6990510" cy="57906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method_grape.drawio.png"/>
          <p:cNvPicPr preferRelativeResize="0"/>
          <p:nvPr/>
        </p:nvPicPr>
        <p:blipFill>
          <a:blip r:embed="rId3">
            <a:alphaModFix/>
          </a:blip>
          <a:stretch>
            <a:fillRect/>
          </a:stretch>
        </p:blipFill>
        <p:spPr>
          <a:xfrm>
            <a:off x="7800110" y="2314939"/>
            <a:ext cx="10194503" cy="7086349"/>
          </a:xfrm>
          <a:prstGeom prst="rect">
            <a:avLst/>
          </a:prstGeom>
          <a:noFill/>
          <a:ln>
            <a:noFill/>
          </a:ln>
        </p:spPr>
      </p:pic>
      <p:sp>
        <p:nvSpPr>
          <p:cNvPr id="64" name="Google Shape;64;p14"/>
          <p:cNvSpPr txBox="1"/>
          <p:nvPr/>
        </p:nvSpPr>
        <p:spPr>
          <a:xfrm>
            <a:off x="0" y="0"/>
            <a:ext cx="15194400" cy="1061769"/>
          </a:xfrm>
          <a:prstGeom prst="rect">
            <a:avLst/>
          </a:prstGeom>
          <a:noFill/>
          <a:ln>
            <a:noFill/>
          </a:ln>
        </p:spPr>
        <p:txBody>
          <a:bodyPr spcFirstLastPara="1" wrap="square" lIns="182850" tIns="182850" rIns="182850" bIns="182850" anchor="t" anchorCtr="0">
            <a:spAutoFit/>
          </a:bodyPr>
          <a:lstStyle/>
          <a:p>
            <a:pPr algn="ctr">
              <a:lnSpc>
                <a:spcPct val="125458"/>
              </a:lnSpc>
            </a:pPr>
            <a:r>
              <a:rPr lang="en" sz="3600" b="1" dirty="0">
                <a:latin typeface="Poppins"/>
                <a:ea typeface="Poppins"/>
                <a:cs typeface="Poppins"/>
                <a:sym typeface="Poppins"/>
              </a:rPr>
              <a:t>Methodology: A Structured Approach</a:t>
            </a:r>
            <a:endParaRPr sz="3600" dirty="0"/>
          </a:p>
        </p:txBody>
      </p:sp>
      <p:sp>
        <p:nvSpPr>
          <p:cNvPr id="65" name="Google Shape;65;p14" descr="preencoded.png"/>
          <p:cNvSpPr/>
          <p:nvPr/>
        </p:nvSpPr>
        <p:spPr>
          <a:xfrm>
            <a:off x="380999" y="2009123"/>
            <a:ext cx="1011723" cy="1202229"/>
          </a:xfrm>
          <a:custGeom>
            <a:avLst/>
            <a:gdLst/>
            <a:ahLst/>
            <a:cxnLst/>
            <a:rect l="l" t="t" r="r" b="b"/>
            <a:pathLst>
              <a:path w="1243584" h="1492250" extrusionOk="0">
                <a:moveTo>
                  <a:pt x="0" y="0"/>
                </a:moveTo>
                <a:lnTo>
                  <a:pt x="1243584" y="0"/>
                </a:lnTo>
                <a:lnTo>
                  <a:pt x="1243584" y="1492250"/>
                </a:lnTo>
                <a:lnTo>
                  <a:pt x="0" y="1492250"/>
                </a:lnTo>
                <a:lnTo>
                  <a:pt x="0" y="0"/>
                </a:lnTo>
                <a:close/>
              </a:path>
            </a:pathLst>
          </a:custGeom>
          <a:blipFill rotWithShape="1">
            <a:blip r:embed="rId4">
              <a:alphaModFix/>
            </a:blip>
            <a:stretch>
              <a:fillRect t="-169" b="-169"/>
            </a:stretch>
          </a:blipFill>
          <a:ln>
            <a:noFill/>
          </a:ln>
        </p:spPr>
      </p:sp>
      <p:sp>
        <p:nvSpPr>
          <p:cNvPr id="66" name="Google Shape;66;p14"/>
          <p:cNvSpPr txBox="1"/>
          <p:nvPr/>
        </p:nvSpPr>
        <p:spPr>
          <a:xfrm>
            <a:off x="1583376" y="2069622"/>
            <a:ext cx="4165800" cy="456087"/>
          </a:xfrm>
          <a:prstGeom prst="rect">
            <a:avLst/>
          </a:prstGeom>
          <a:noFill/>
          <a:ln>
            <a:noFill/>
          </a:ln>
        </p:spPr>
        <p:txBody>
          <a:bodyPr spcFirstLastPara="1" wrap="square" lIns="0" tIns="0" rIns="0" bIns="0" anchor="t" anchorCtr="0">
            <a:spAutoFit/>
          </a:bodyPr>
          <a:lstStyle/>
          <a:p>
            <a:pPr>
              <a:lnSpc>
                <a:spcPct val="125963"/>
              </a:lnSpc>
            </a:pPr>
            <a:r>
              <a:rPr lang="en" sz="2352" dirty="0">
                <a:solidFill>
                  <a:srgbClr val="0B4B49"/>
                </a:solidFill>
                <a:latin typeface="Poppins"/>
                <a:ea typeface="Poppins"/>
                <a:cs typeface="Poppins"/>
                <a:sym typeface="Poppins"/>
              </a:rPr>
              <a:t>1. Data Transformation</a:t>
            </a:r>
            <a:endParaRPr sz="1952" dirty="0"/>
          </a:p>
        </p:txBody>
      </p:sp>
      <p:sp>
        <p:nvSpPr>
          <p:cNvPr id="67" name="Google Shape;67;p14"/>
          <p:cNvSpPr txBox="1"/>
          <p:nvPr/>
        </p:nvSpPr>
        <p:spPr>
          <a:xfrm>
            <a:off x="1653754" y="2544164"/>
            <a:ext cx="3645000" cy="496033"/>
          </a:xfrm>
          <a:prstGeom prst="rect">
            <a:avLst/>
          </a:prstGeom>
          <a:noFill/>
          <a:ln>
            <a:noFill/>
          </a:ln>
        </p:spPr>
        <p:txBody>
          <a:bodyPr spcFirstLastPara="1" wrap="square" lIns="0" tIns="0" rIns="0" bIns="0" anchor="t" anchorCtr="0">
            <a:spAutoFit/>
          </a:bodyPr>
          <a:lstStyle/>
          <a:p>
            <a:pPr>
              <a:lnSpc>
                <a:spcPct val="160890"/>
              </a:lnSpc>
            </a:pPr>
            <a:r>
              <a:rPr lang="en" sz="2002" dirty="0">
                <a:solidFill>
                  <a:srgbClr val="0B4B49"/>
                </a:solidFill>
                <a:latin typeface="DM Sans"/>
                <a:ea typeface="DM Sans"/>
                <a:cs typeface="DM Sans"/>
                <a:sym typeface="DM Sans"/>
              </a:rPr>
              <a:t>Rezise + Normalization</a:t>
            </a:r>
            <a:endParaRPr sz="1952" dirty="0"/>
          </a:p>
        </p:txBody>
      </p:sp>
      <p:sp>
        <p:nvSpPr>
          <p:cNvPr id="68" name="Google Shape;68;p14" descr="preencoded.png"/>
          <p:cNvSpPr/>
          <p:nvPr/>
        </p:nvSpPr>
        <p:spPr>
          <a:xfrm>
            <a:off x="323857" y="3644189"/>
            <a:ext cx="1011723" cy="1152986"/>
          </a:xfrm>
          <a:custGeom>
            <a:avLst/>
            <a:gdLst/>
            <a:ahLst/>
            <a:cxnLst/>
            <a:rect l="l" t="t" r="r" b="b"/>
            <a:pathLst>
              <a:path w="1243584" h="1492250" extrusionOk="0">
                <a:moveTo>
                  <a:pt x="0" y="0"/>
                </a:moveTo>
                <a:lnTo>
                  <a:pt x="1243584" y="0"/>
                </a:lnTo>
                <a:lnTo>
                  <a:pt x="1243584" y="1492250"/>
                </a:lnTo>
                <a:lnTo>
                  <a:pt x="0" y="1492250"/>
                </a:lnTo>
                <a:lnTo>
                  <a:pt x="0" y="0"/>
                </a:lnTo>
                <a:close/>
              </a:path>
            </a:pathLst>
          </a:custGeom>
          <a:blipFill rotWithShape="1">
            <a:blip r:embed="rId5">
              <a:alphaModFix/>
            </a:blip>
            <a:stretch>
              <a:fillRect t="-169" b="-169"/>
            </a:stretch>
          </a:blipFill>
          <a:ln>
            <a:noFill/>
          </a:ln>
        </p:spPr>
      </p:sp>
      <p:sp>
        <p:nvSpPr>
          <p:cNvPr id="69" name="Google Shape;69;p14" descr="preencoded.png"/>
          <p:cNvSpPr/>
          <p:nvPr/>
        </p:nvSpPr>
        <p:spPr>
          <a:xfrm>
            <a:off x="323857" y="5158710"/>
            <a:ext cx="1011724" cy="1223644"/>
          </a:xfrm>
          <a:custGeom>
            <a:avLst/>
            <a:gdLst/>
            <a:ahLst/>
            <a:cxnLst/>
            <a:rect l="l" t="t" r="r" b="b"/>
            <a:pathLst>
              <a:path w="1243584" h="1492250" extrusionOk="0">
                <a:moveTo>
                  <a:pt x="0" y="0"/>
                </a:moveTo>
                <a:lnTo>
                  <a:pt x="1243584" y="0"/>
                </a:lnTo>
                <a:lnTo>
                  <a:pt x="1243584" y="1492250"/>
                </a:lnTo>
                <a:lnTo>
                  <a:pt x="0" y="1492250"/>
                </a:lnTo>
                <a:lnTo>
                  <a:pt x="0" y="0"/>
                </a:lnTo>
                <a:close/>
              </a:path>
            </a:pathLst>
          </a:custGeom>
          <a:blipFill rotWithShape="1">
            <a:blip r:embed="rId6">
              <a:alphaModFix/>
            </a:blip>
            <a:stretch>
              <a:fillRect t="-169" b="-169"/>
            </a:stretch>
          </a:blipFill>
          <a:ln>
            <a:noFill/>
          </a:ln>
        </p:spPr>
      </p:sp>
      <p:sp>
        <p:nvSpPr>
          <p:cNvPr id="70" name="Google Shape;70;p14"/>
          <p:cNvSpPr txBox="1"/>
          <p:nvPr/>
        </p:nvSpPr>
        <p:spPr>
          <a:xfrm>
            <a:off x="1583376" y="3735912"/>
            <a:ext cx="2887200" cy="463012"/>
          </a:xfrm>
          <a:prstGeom prst="rect">
            <a:avLst/>
          </a:prstGeom>
          <a:noFill/>
          <a:ln>
            <a:noFill/>
          </a:ln>
        </p:spPr>
        <p:txBody>
          <a:bodyPr spcFirstLastPara="1" wrap="square" lIns="0" tIns="0" rIns="0" bIns="0" anchor="t" anchorCtr="0">
            <a:spAutoFit/>
          </a:bodyPr>
          <a:lstStyle/>
          <a:p>
            <a:pPr>
              <a:lnSpc>
                <a:spcPct val="125963"/>
              </a:lnSpc>
            </a:pPr>
            <a:r>
              <a:rPr lang="en" sz="2388">
                <a:solidFill>
                  <a:srgbClr val="0B4B49"/>
                </a:solidFill>
                <a:latin typeface="Poppins"/>
                <a:ea typeface="Poppins"/>
                <a:cs typeface="Poppins"/>
                <a:sym typeface="Poppins"/>
              </a:rPr>
              <a:t>2. Train-Test Split</a:t>
            </a:r>
            <a:endParaRPr sz="1982"/>
          </a:p>
        </p:txBody>
      </p:sp>
      <p:sp>
        <p:nvSpPr>
          <p:cNvPr id="71" name="Google Shape;71;p14"/>
          <p:cNvSpPr txBox="1"/>
          <p:nvPr/>
        </p:nvSpPr>
        <p:spPr>
          <a:xfrm>
            <a:off x="1551980" y="4174436"/>
            <a:ext cx="2621400" cy="503984"/>
          </a:xfrm>
          <a:prstGeom prst="rect">
            <a:avLst/>
          </a:prstGeom>
          <a:noFill/>
          <a:ln>
            <a:noFill/>
          </a:ln>
        </p:spPr>
        <p:txBody>
          <a:bodyPr spcFirstLastPara="1" wrap="square" lIns="0" tIns="0" rIns="0" bIns="0" anchor="t" anchorCtr="0">
            <a:spAutoFit/>
          </a:bodyPr>
          <a:lstStyle/>
          <a:p>
            <a:pPr>
              <a:lnSpc>
                <a:spcPct val="160890"/>
              </a:lnSpc>
            </a:pPr>
            <a:r>
              <a:rPr lang="en" sz="2034" dirty="0">
                <a:solidFill>
                  <a:srgbClr val="0B4B49"/>
                </a:solidFill>
                <a:latin typeface="DM Sans"/>
                <a:ea typeface="DM Sans"/>
                <a:cs typeface="DM Sans"/>
                <a:sym typeface="DM Sans"/>
              </a:rPr>
              <a:t>Stratified for balance</a:t>
            </a:r>
            <a:endParaRPr sz="1982" dirty="0"/>
          </a:p>
        </p:txBody>
      </p:sp>
      <p:sp>
        <p:nvSpPr>
          <p:cNvPr id="72" name="Google Shape;72;p14"/>
          <p:cNvSpPr txBox="1"/>
          <p:nvPr/>
        </p:nvSpPr>
        <p:spPr>
          <a:xfrm>
            <a:off x="1485438" y="5304104"/>
            <a:ext cx="3707400" cy="463012"/>
          </a:xfrm>
          <a:prstGeom prst="rect">
            <a:avLst/>
          </a:prstGeom>
          <a:noFill/>
          <a:ln>
            <a:noFill/>
          </a:ln>
        </p:spPr>
        <p:txBody>
          <a:bodyPr spcFirstLastPara="1" wrap="square" lIns="0" tIns="0" rIns="0" bIns="0" anchor="t" anchorCtr="0">
            <a:spAutoFit/>
          </a:bodyPr>
          <a:lstStyle/>
          <a:p>
            <a:pPr>
              <a:lnSpc>
                <a:spcPct val="125963"/>
              </a:lnSpc>
            </a:pPr>
            <a:r>
              <a:rPr lang="en" sz="2388" dirty="0">
                <a:solidFill>
                  <a:srgbClr val="0B4B49"/>
                </a:solidFill>
                <a:latin typeface="Poppins"/>
                <a:ea typeface="Poppins"/>
                <a:cs typeface="Poppins"/>
                <a:sym typeface="Poppins"/>
              </a:rPr>
              <a:t>3. Benchmark Models</a:t>
            </a:r>
            <a:endParaRPr sz="1982" dirty="0"/>
          </a:p>
        </p:txBody>
      </p:sp>
      <p:sp>
        <p:nvSpPr>
          <p:cNvPr id="73" name="Google Shape;73;p14"/>
          <p:cNvSpPr txBox="1"/>
          <p:nvPr/>
        </p:nvSpPr>
        <p:spPr>
          <a:xfrm>
            <a:off x="1512166" y="5783600"/>
            <a:ext cx="4780800" cy="503984"/>
          </a:xfrm>
          <a:prstGeom prst="rect">
            <a:avLst/>
          </a:prstGeom>
          <a:noFill/>
          <a:ln>
            <a:noFill/>
          </a:ln>
        </p:spPr>
        <p:txBody>
          <a:bodyPr spcFirstLastPara="1" wrap="square" lIns="0" tIns="0" rIns="0" bIns="0" anchor="t" anchorCtr="0">
            <a:spAutoFit/>
          </a:bodyPr>
          <a:lstStyle/>
          <a:p>
            <a:pPr>
              <a:lnSpc>
                <a:spcPct val="160890"/>
              </a:lnSpc>
            </a:pPr>
            <a:r>
              <a:rPr lang="en" sz="2034" dirty="0">
                <a:solidFill>
                  <a:srgbClr val="0B4B49"/>
                </a:solidFill>
                <a:latin typeface="DM Sans"/>
                <a:ea typeface="DM Sans"/>
                <a:cs typeface="DM Sans"/>
                <a:sym typeface="DM Sans"/>
              </a:rPr>
              <a:t>Restnet, VGG, Sparsenet, Alexnet</a:t>
            </a:r>
            <a:endParaRPr sz="1982" dirty="0"/>
          </a:p>
        </p:txBody>
      </p:sp>
      <p:sp>
        <p:nvSpPr>
          <p:cNvPr id="74" name="Google Shape;74;p14" descr="preencoded.png"/>
          <p:cNvSpPr/>
          <p:nvPr/>
        </p:nvSpPr>
        <p:spPr>
          <a:xfrm>
            <a:off x="323857" y="6543564"/>
            <a:ext cx="1011724" cy="1045955"/>
          </a:xfrm>
          <a:custGeom>
            <a:avLst/>
            <a:gdLst/>
            <a:ahLst/>
            <a:cxnLst/>
            <a:rect l="l" t="t" r="r" b="b"/>
            <a:pathLst>
              <a:path w="1243584" h="1492250" extrusionOk="0">
                <a:moveTo>
                  <a:pt x="0" y="0"/>
                </a:moveTo>
                <a:lnTo>
                  <a:pt x="1243584" y="0"/>
                </a:lnTo>
                <a:lnTo>
                  <a:pt x="1243584" y="1492250"/>
                </a:lnTo>
                <a:lnTo>
                  <a:pt x="0" y="1492250"/>
                </a:lnTo>
                <a:lnTo>
                  <a:pt x="0" y="0"/>
                </a:lnTo>
                <a:close/>
              </a:path>
            </a:pathLst>
          </a:custGeom>
          <a:blipFill rotWithShape="1">
            <a:blip r:embed="rId7">
              <a:alphaModFix/>
            </a:blip>
            <a:stretch>
              <a:fillRect t="-169" b="-169"/>
            </a:stretch>
          </a:blipFill>
          <a:ln>
            <a:noFill/>
          </a:ln>
        </p:spPr>
      </p:sp>
      <p:sp>
        <p:nvSpPr>
          <p:cNvPr id="75" name="Google Shape;75;p14" descr="preencoded.png"/>
          <p:cNvSpPr/>
          <p:nvPr/>
        </p:nvSpPr>
        <p:spPr>
          <a:xfrm>
            <a:off x="380998" y="7678784"/>
            <a:ext cx="1011724" cy="1061533"/>
          </a:xfrm>
          <a:custGeom>
            <a:avLst/>
            <a:gdLst/>
            <a:ahLst/>
            <a:cxnLst/>
            <a:rect l="l" t="t" r="r" b="b"/>
            <a:pathLst>
              <a:path w="1243584" h="1492250" extrusionOk="0">
                <a:moveTo>
                  <a:pt x="0" y="0"/>
                </a:moveTo>
                <a:lnTo>
                  <a:pt x="1243584" y="0"/>
                </a:lnTo>
                <a:lnTo>
                  <a:pt x="1243584" y="1492250"/>
                </a:lnTo>
                <a:lnTo>
                  <a:pt x="0" y="1492250"/>
                </a:lnTo>
                <a:lnTo>
                  <a:pt x="0" y="0"/>
                </a:lnTo>
                <a:close/>
              </a:path>
            </a:pathLst>
          </a:custGeom>
          <a:blipFill rotWithShape="1">
            <a:blip r:embed="rId8">
              <a:alphaModFix/>
            </a:blip>
            <a:stretch>
              <a:fillRect t="-169" b="-169"/>
            </a:stretch>
          </a:blipFill>
          <a:ln>
            <a:noFill/>
          </a:ln>
        </p:spPr>
      </p:sp>
      <p:sp>
        <p:nvSpPr>
          <p:cNvPr id="76" name="Google Shape;76;p14"/>
          <p:cNvSpPr/>
          <p:nvPr/>
        </p:nvSpPr>
        <p:spPr>
          <a:xfrm>
            <a:off x="380998" y="8885949"/>
            <a:ext cx="1011724" cy="1113183"/>
          </a:xfrm>
          <a:custGeom>
            <a:avLst/>
            <a:gdLst/>
            <a:ahLst/>
            <a:cxnLst/>
            <a:rect l="l" t="t" r="r" b="b"/>
            <a:pathLst>
              <a:path w="914434" h="1101818" extrusionOk="0">
                <a:moveTo>
                  <a:pt x="0" y="0"/>
                </a:moveTo>
                <a:lnTo>
                  <a:pt x="914434" y="0"/>
                </a:lnTo>
                <a:lnTo>
                  <a:pt x="914434" y="1101818"/>
                </a:lnTo>
                <a:lnTo>
                  <a:pt x="0" y="1101818"/>
                </a:lnTo>
                <a:lnTo>
                  <a:pt x="0" y="0"/>
                </a:lnTo>
                <a:close/>
              </a:path>
            </a:pathLst>
          </a:custGeom>
          <a:blipFill rotWithShape="1">
            <a:blip r:embed="rId9">
              <a:alphaModFix/>
            </a:blip>
            <a:stretch>
              <a:fillRect/>
            </a:stretch>
          </a:blipFill>
          <a:ln>
            <a:noFill/>
          </a:ln>
        </p:spPr>
      </p:sp>
      <p:sp>
        <p:nvSpPr>
          <p:cNvPr id="77" name="Google Shape;77;p14"/>
          <p:cNvSpPr txBox="1"/>
          <p:nvPr/>
        </p:nvSpPr>
        <p:spPr>
          <a:xfrm>
            <a:off x="1551980" y="6648156"/>
            <a:ext cx="3353400" cy="481286"/>
          </a:xfrm>
          <a:prstGeom prst="rect">
            <a:avLst/>
          </a:prstGeom>
          <a:noFill/>
          <a:ln>
            <a:noFill/>
          </a:ln>
        </p:spPr>
        <p:txBody>
          <a:bodyPr spcFirstLastPara="1" wrap="square" lIns="0" tIns="0" rIns="0" bIns="0" anchor="t" anchorCtr="0">
            <a:spAutoFit/>
          </a:bodyPr>
          <a:lstStyle/>
          <a:p>
            <a:pPr>
              <a:lnSpc>
                <a:spcPct val="125963"/>
              </a:lnSpc>
            </a:pPr>
            <a:r>
              <a:rPr lang="en" sz="2482" dirty="0">
                <a:solidFill>
                  <a:srgbClr val="0B4B49"/>
                </a:solidFill>
                <a:latin typeface="Poppins"/>
                <a:ea typeface="Poppins"/>
                <a:cs typeface="Poppins"/>
                <a:sym typeface="Poppins"/>
              </a:rPr>
              <a:t>4. Best Model</a:t>
            </a:r>
            <a:endParaRPr sz="2058" dirty="0"/>
          </a:p>
        </p:txBody>
      </p:sp>
      <p:sp>
        <p:nvSpPr>
          <p:cNvPr id="78" name="Google Shape;78;p14"/>
          <p:cNvSpPr txBox="1"/>
          <p:nvPr/>
        </p:nvSpPr>
        <p:spPr>
          <a:xfrm>
            <a:off x="1574215" y="7049633"/>
            <a:ext cx="3624600" cy="523798"/>
          </a:xfrm>
          <a:prstGeom prst="rect">
            <a:avLst/>
          </a:prstGeom>
          <a:noFill/>
          <a:ln>
            <a:noFill/>
          </a:ln>
        </p:spPr>
        <p:txBody>
          <a:bodyPr spcFirstLastPara="1" wrap="square" lIns="0" tIns="0" rIns="0" bIns="0" anchor="t" anchorCtr="0">
            <a:spAutoFit/>
          </a:bodyPr>
          <a:lstStyle/>
          <a:p>
            <a:pPr>
              <a:lnSpc>
                <a:spcPct val="160890"/>
              </a:lnSpc>
            </a:pPr>
            <a:r>
              <a:rPr lang="en" sz="2114" dirty="0">
                <a:solidFill>
                  <a:srgbClr val="0B4B49"/>
                </a:solidFill>
                <a:latin typeface="DM Sans"/>
                <a:ea typeface="DM Sans"/>
                <a:cs typeface="DM Sans"/>
                <a:sym typeface="DM Sans"/>
              </a:rPr>
              <a:t>DenseNet </a:t>
            </a:r>
            <a:endParaRPr sz="2058" dirty="0"/>
          </a:p>
        </p:txBody>
      </p:sp>
      <p:sp>
        <p:nvSpPr>
          <p:cNvPr id="79" name="Google Shape;79;p14"/>
          <p:cNvSpPr txBox="1"/>
          <p:nvPr/>
        </p:nvSpPr>
        <p:spPr>
          <a:xfrm>
            <a:off x="1551980" y="7695668"/>
            <a:ext cx="3792600" cy="481286"/>
          </a:xfrm>
          <a:prstGeom prst="rect">
            <a:avLst/>
          </a:prstGeom>
          <a:noFill/>
          <a:ln>
            <a:noFill/>
          </a:ln>
        </p:spPr>
        <p:txBody>
          <a:bodyPr spcFirstLastPara="1" wrap="square" lIns="0" tIns="0" rIns="0" bIns="0" anchor="t" anchorCtr="0">
            <a:spAutoFit/>
          </a:bodyPr>
          <a:lstStyle/>
          <a:p>
            <a:pPr>
              <a:lnSpc>
                <a:spcPct val="125963"/>
              </a:lnSpc>
            </a:pPr>
            <a:r>
              <a:rPr lang="en" sz="2482" dirty="0">
                <a:solidFill>
                  <a:srgbClr val="0B4B49"/>
                </a:solidFill>
                <a:latin typeface="Poppins"/>
                <a:ea typeface="Poppins"/>
                <a:cs typeface="Poppins"/>
                <a:sym typeface="Poppins"/>
              </a:rPr>
              <a:t>5. Evaluation Metrics</a:t>
            </a:r>
            <a:endParaRPr sz="2058" dirty="0"/>
          </a:p>
        </p:txBody>
      </p:sp>
      <p:sp>
        <p:nvSpPr>
          <p:cNvPr id="80" name="Google Shape;80;p14"/>
          <p:cNvSpPr txBox="1"/>
          <p:nvPr/>
        </p:nvSpPr>
        <p:spPr>
          <a:xfrm>
            <a:off x="1512166" y="8138103"/>
            <a:ext cx="5806800" cy="523798"/>
          </a:xfrm>
          <a:prstGeom prst="rect">
            <a:avLst/>
          </a:prstGeom>
          <a:noFill/>
          <a:ln>
            <a:noFill/>
          </a:ln>
        </p:spPr>
        <p:txBody>
          <a:bodyPr spcFirstLastPara="1" wrap="square" lIns="0" tIns="0" rIns="0" bIns="0" anchor="t" anchorCtr="0">
            <a:spAutoFit/>
          </a:bodyPr>
          <a:lstStyle/>
          <a:p>
            <a:pPr>
              <a:lnSpc>
                <a:spcPct val="160890"/>
              </a:lnSpc>
            </a:pPr>
            <a:r>
              <a:rPr lang="en" sz="2114" dirty="0">
                <a:solidFill>
                  <a:srgbClr val="0B4B49"/>
                </a:solidFill>
                <a:latin typeface="DM Sans"/>
                <a:ea typeface="DM Sans"/>
                <a:cs typeface="DM Sans"/>
                <a:sym typeface="DM Sans"/>
              </a:rPr>
              <a:t>Accuracy, F1, MCC, Kappa, Specificity, PR-AUC</a:t>
            </a:r>
            <a:endParaRPr sz="2058" dirty="0"/>
          </a:p>
        </p:txBody>
      </p:sp>
      <p:sp>
        <p:nvSpPr>
          <p:cNvPr id="81" name="Google Shape;81;p14"/>
          <p:cNvSpPr txBox="1"/>
          <p:nvPr/>
        </p:nvSpPr>
        <p:spPr>
          <a:xfrm>
            <a:off x="907280" y="8720897"/>
            <a:ext cx="4642800" cy="637290"/>
          </a:xfrm>
          <a:prstGeom prst="rect">
            <a:avLst/>
          </a:prstGeom>
          <a:noFill/>
          <a:ln>
            <a:noFill/>
          </a:ln>
        </p:spPr>
        <p:txBody>
          <a:bodyPr spcFirstLastPara="1" wrap="square" lIns="0" tIns="0" rIns="0" bIns="0" anchor="t" anchorCtr="0">
            <a:spAutoFit/>
          </a:bodyPr>
          <a:lstStyle/>
          <a:p>
            <a:pPr algn="ctr">
              <a:lnSpc>
                <a:spcPct val="160777"/>
              </a:lnSpc>
            </a:pPr>
            <a:r>
              <a:rPr lang="en" sz="2572">
                <a:solidFill>
                  <a:srgbClr val="0B4B49"/>
                </a:solidFill>
                <a:latin typeface="DM Sans"/>
                <a:ea typeface="DM Sans"/>
                <a:cs typeface="DM Sans"/>
                <a:sym typeface="DM Sans"/>
              </a:rPr>
              <a:t>6. Result Interpretation</a:t>
            </a:r>
            <a:endParaRPr sz="2058"/>
          </a:p>
        </p:txBody>
      </p:sp>
      <p:sp>
        <p:nvSpPr>
          <p:cNvPr id="82" name="Google Shape;82;p14"/>
          <p:cNvSpPr txBox="1"/>
          <p:nvPr/>
        </p:nvSpPr>
        <p:spPr>
          <a:xfrm>
            <a:off x="1392722" y="9280306"/>
            <a:ext cx="6060600" cy="564898"/>
          </a:xfrm>
          <a:prstGeom prst="rect">
            <a:avLst/>
          </a:prstGeom>
          <a:noFill/>
          <a:ln>
            <a:noFill/>
          </a:ln>
        </p:spPr>
        <p:txBody>
          <a:bodyPr spcFirstLastPara="1" wrap="square" lIns="0" tIns="0" rIns="0" bIns="0" anchor="t" anchorCtr="0">
            <a:spAutoFit/>
          </a:bodyPr>
          <a:lstStyle/>
          <a:p>
            <a:pPr algn="ctr">
              <a:lnSpc>
                <a:spcPct val="160709"/>
              </a:lnSpc>
            </a:pPr>
            <a:r>
              <a:rPr lang="en" sz="2280" dirty="0">
                <a:solidFill>
                  <a:srgbClr val="0B4B49"/>
                </a:solidFill>
                <a:latin typeface="DM Sans"/>
                <a:ea typeface="DM Sans"/>
                <a:cs typeface="DM Sans"/>
                <a:sym typeface="DM Sans"/>
              </a:rPr>
              <a:t>Confusion matrix, Accuracy-Loss curve, XAI</a:t>
            </a:r>
            <a:endParaRPr sz="2058" dirty="0"/>
          </a:p>
        </p:txBody>
      </p:sp>
      <p:sp>
        <p:nvSpPr>
          <p:cNvPr id="83" name="Google Shape;83;p14"/>
          <p:cNvSpPr txBox="1"/>
          <p:nvPr/>
        </p:nvSpPr>
        <p:spPr>
          <a:xfrm>
            <a:off x="609600" y="497706"/>
            <a:ext cx="17068800" cy="1756702"/>
          </a:xfrm>
          <a:prstGeom prst="rect">
            <a:avLst/>
          </a:prstGeom>
          <a:noFill/>
          <a:ln>
            <a:noFill/>
          </a:ln>
        </p:spPr>
        <p:txBody>
          <a:bodyPr spcFirstLastPara="1" wrap="square" lIns="182850" tIns="182850" rIns="182850" bIns="182850" anchor="t" anchorCtr="0">
            <a:spAutoFit/>
          </a:bodyPr>
          <a:lstStyle/>
          <a:p>
            <a:pPr>
              <a:lnSpc>
                <a:spcPct val="160873"/>
              </a:lnSpc>
            </a:pPr>
            <a:r>
              <a:rPr lang="en" sz="2800" dirty="0">
                <a:latin typeface="Times New Roman" panose="02020603050405020304" pitchFamily="18" charset="0"/>
                <a:ea typeface="DM Sans"/>
                <a:cs typeface="Times New Roman" panose="02020603050405020304" pitchFamily="18" charset="0"/>
                <a:sym typeface="DM Sans"/>
              </a:rPr>
              <a:t>Our methodology follows a systematic pipeline, ensuring robust model development, rigorous benchmarking, and comprehensive evaluation.</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p:nvPr/>
        </p:nvSpPr>
        <p:spPr>
          <a:xfrm>
            <a:off x="1936500" y="343901"/>
            <a:ext cx="14415000" cy="923330"/>
          </a:xfrm>
          <a:prstGeom prst="rect">
            <a:avLst/>
          </a:prstGeom>
          <a:noFill/>
          <a:ln>
            <a:noFill/>
          </a:ln>
        </p:spPr>
        <p:txBody>
          <a:bodyPr spcFirstLastPara="1" wrap="square" lIns="0" tIns="0" rIns="0" bIns="0" anchor="t" anchorCtr="0">
            <a:spAutoFit/>
          </a:bodyPr>
          <a:lstStyle/>
          <a:p>
            <a:pPr algn="ctr">
              <a:lnSpc>
                <a:spcPct val="124989"/>
              </a:lnSpc>
            </a:pPr>
            <a:r>
              <a:rPr lang="en" sz="4800" b="1">
                <a:solidFill>
                  <a:srgbClr val="0B4B49"/>
                </a:solidFill>
                <a:latin typeface="Poppins"/>
                <a:ea typeface="Poppins"/>
                <a:cs typeface="Poppins"/>
                <a:sym typeface="Poppins"/>
              </a:rPr>
              <a:t>Our Densnet121 Architecture</a:t>
            </a:r>
            <a:endParaRPr sz="4800"/>
          </a:p>
        </p:txBody>
      </p:sp>
      <p:pic>
        <p:nvPicPr>
          <p:cNvPr id="89" name="Google Shape;89;p15" title="Untitled Diagram.drawio (12).png"/>
          <p:cNvPicPr preferRelativeResize="0"/>
          <p:nvPr/>
        </p:nvPicPr>
        <p:blipFill>
          <a:blip r:embed="rId3">
            <a:alphaModFix/>
          </a:blip>
          <a:stretch>
            <a:fillRect/>
          </a:stretch>
        </p:blipFill>
        <p:spPr>
          <a:xfrm>
            <a:off x="14316800" y="1082500"/>
            <a:ext cx="2591800" cy="9204500"/>
          </a:xfrm>
          <a:prstGeom prst="rect">
            <a:avLst/>
          </a:prstGeom>
          <a:noFill/>
          <a:ln>
            <a:noFill/>
          </a:ln>
        </p:spPr>
      </p:pic>
      <p:sp>
        <p:nvSpPr>
          <p:cNvPr id="90" name="Google Shape;90;p15"/>
          <p:cNvSpPr txBox="1"/>
          <p:nvPr/>
        </p:nvSpPr>
        <p:spPr>
          <a:xfrm>
            <a:off x="426950" y="1740751"/>
            <a:ext cx="12492000" cy="738603"/>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Input is the starting point where the image is fed into the model.</a:t>
            </a:r>
            <a:endParaRPr sz="2400"/>
          </a:p>
        </p:txBody>
      </p:sp>
      <p:sp>
        <p:nvSpPr>
          <p:cNvPr id="91" name="Google Shape;91;p15"/>
          <p:cNvSpPr txBox="1"/>
          <p:nvPr/>
        </p:nvSpPr>
        <p:spPr>
          <a:xfrm>
            <a:off x="426950" y="2669601"/>
            <a:ext cx="12492000" cy="1107935"/>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Convolution layer is responsible for extracting features from the input image using filters.</a:t>
            </a:r>
            <a:endParaRPr sz="2400">
              <a:solidFill>
                <a:schemeClr val="dk1"/>
              </a:solidFill>
            </a:endParaRPr>
          </a:p>
        </p:txBody>
      </p:sp>
      <p:sp>
        <p:nvSpPr>
          <p:cNvPr id="92" name="Google Shape;92;p15"/>
          <p:cNvSpPr txBox="1"/>
          <p:nvPr/>
        </p:nvSpPr>
        <p:spPr>
          <a:xfrm>
            <a:off x="426950" y="3777801"/>
            <a:ext cx="13116000" cy="738603"/>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BN normalizes the input to the next layer, helping improve training efficiency and stability.</a:t>
            </a:r>
            <a:endParaRPr sz="3600"/>
          </a:p>
        </p:txBody>
      </p:sp>
      <p:sp>
        <p:nvSpPr>
          <p:cNvPr id="93" name="Google Shape;93;p15"/>
          <p:cNvSpPr txBox="1"/>
          <p:nvPr/>
        </p:nvSpPr>
        <p:spPr>
          <a:xfrm>
            <a:off x="426950" y="4886001"/>
            <a:ext cx="13495800" cy="1107935"/>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The Rectified Linear Unit (ReLU) activation function introduces non-linearity by zeroing out negative values, helping the model learn complex patterns.</a:t>
            </a:r>
            <a:endParaRPr sz="3600"/>
          </a:p>
        </p:txBody>
      </p:sp>
      <p:sp>
        <p:nvSpPr>
          <p:cNvPr id="94" name="Google Shape;94;p15"/>
          <p:cNvSpPr txBox="1"/>
          <p:nvPr/>
        </p:nvSpPr>
        <p:spPr>
          <a:xfrm>
            <a:off x="426950" y="5994201"/>
            <a:ext cx="13116000" cy="1107935"/>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Pooling reduces the spatial dimensions of the input feature map, making the model more computationally efficient.</a:t>
            </a:r>
            <a:endParaRPr sz="3600"/>
          </a:p>
        </p:txBody>
      </p:sp>
      <p:sp>
        <p:nvSpPr>
          <p:cNvPr id="95" name="Google Shape;95;p15"/>
          <p:cNvSpPr txBox="1"/>
          <p:nvPr/>
        </p:nvSpPr>
        <p:spPr>
          <a:xfrm>
            <a:off x="426950" y="7102401"/>
            <a:ext cx="13674600" cy="1107935"/>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The flattened layer converts the multi-dimensional output from the convolution layers into a one-dimensional vector for input into the fully connected layers.</a:t>
            </a:r>
            <a:endParaRPr sz="3600"/>
          </a:p>
        </p:txBody>
      </p:sp>
      <p:sp>
        <p:nvSpPr>
          <p:cNvPr id="96" name="Google Shape;96;p15"/>
          <p:cNvSpPr txBox="1"/>
          <p:nvPr/>
        </p:nvSpPr>
        <p:spPr>
          <a:xfrm>
            <a:off x="426950" y="8210601"/>
            <a:ext cx="13495800" cy="1107935"/>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This CH consists of fully connected layers that make predictions based on the features extracted by the convolution layers.</a:t>
            </a:r>
            <a:endParaRPr sz="3600"/>
          </a:p>
        </p:txBody>
      </p:sp>
      <p:sp>
        <p:nvSpPr>
          <p:cNvPr id="97" name="Google Shape;97;p15"/>
          <p:cNvSpPr txBox="1"/>
          <p:nvPr/>
        </p:nvSpPr>
        <p:spPr>
          <a:xfrm>
            <a:off x="426950" y="9318801"/>
            <a:ext cx="13495800" cy="738603"/>
          </a:xfrm>
          <a:prstGeom prst="rect">
            <a:avLst/>
          </a:prstGeom>
          <a:noFill/>
          <a:ln>
            <a:noFill/>
          </a:ln>
        </p:spPr>
        <p:txBody>
          <a:bodyPr spcFirstLastPara="1" wrap="square" lIns="182850" tIns="182850" rIns="182850" bIns="182850" anchor="t" anchorCtr="0">
            <a:spAutoFit/>
          </a:bodyPr>
          <a:lstStyle/>
          <a:p>
            <a:pPr marL="914400" indent="-609600">
              <a:buClr>
                <a:schemeClr val="dk1"/>
              </a:buClr>
              <a:buSzPts val="1200"/>
              <a:buChar char="●"/>
            </a:pPr>
            <a:r>
              <a:rPr lang="en" sz="2400" b="1">
                <a:solidFill>
                  <a:schemeClr val="dk1"/>
                </a:solidFill>
              </a:rPr>
              <a:t>The final output layer produces the predicted class labels or values.</a:t>
            </a:r>
            <a:endParaRPr sz="3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p:nvPr/>
        </p:nvSpPr>
        <p:spPr>
          <a:xfrm>
            <a:off x="0" y="1"/>
            <a:ext cx="18288000" cy="9192199"/>
          </a:xfrm>
          <a:prstGeom prst="rect">
            <a:avLst/>
          </a:prstGeom>
          <a:noFill/>
          <a:ln>
            <a:noFill/>
          </a:ln>
        </p:spPr>
        <p:txBody>
          <a:bodyPr spcFirstLastPara="1" wrap="square" lIns="182850" tIns="182850" rIns="182850" bIns="182850" anchor="t" anchorCtr="0">
            <a:spAutoFit/>
          </a:bodyPr>
          <a:lstStyle/>
          <a:p>
            <a:pPr algn="ctr">
              <a:lnSpc>
                <a:spcPct val="115000"/>
              </a:lnSpc>
              <a:spcBef>
                <a:spcPts val="2800"/>
              </a:spcBef>
            </a:pPr>
            <a:r>
              <a:rPr lang="en" sz="4000" b="1">
                <a:solidFill>
                  <a:schemeClr val="dk1"/>
                </a:solidFill>
              </a:rPr>
              <a:t>Advantages:</a:t>
            </a:r>
            <a:endParaRPr sz="4000" b="1">
              <a:solidFill>
                <a:schemeClr val="dk1"/>
              </a:solidFill>
            </a:endParaRPr>
          </a:p>
          <a:p>
            <a:pPr marL="914400" indent="-647700">
              <a:lnSpc>
                <a:spcPct val="115000"/>
              </a:lnSpc>
              <a:spcBef>
                <a:spcPts val="3600"/>
              </a:spcBef>
              <a:buClr>
                <a:schemeClr val="dk1"/>
              </a:buClr>
              <a:buSzPts val="1500"/>
              <a:buChar char="●"/>
            </a:pPr>
            <a:r>
              <a:rPr lang="en" sz="3000" b="1">
                <a:solidFill>
                  <a:schemeClr val="dk1"/>
                </a:solidFill>
              </a:rPr>
              <a:t>Efficient Feature Reuse</a:t>
            </a:r>
            <a:r>
              <a:rPr lang="en" sz="3000">
                <a:solidFill>
                  <a:schemeClr val="dk1"/>
                </a:solidFill>
              </a:rPr>
              <a:t>:</a:t>
            </a:r>
            <a:br>
              <a:rPr lang="en" sz="3000">
                <a:solidFill>
                  <a:schemeClr val="dk1"/>
                </a:solidFill>
              </a:rPr>
            </a:br>
            <a:endParaRPr sz="3000">
              <a:solidFill>
                <a:schemeClr val="dk1"/>
              </a:solidFill>
            </a:endParaRPr>
          </a:p>
          <a:p>
            <a:pPr marL="1828800" lvl="1" indent="-647700">
              <a:lnSpc>
                <a:spcPct val="115000"/>
              </a:lnSpc>
              <a:buClr>
                <a:schemeClr val="dk1"/>
              </a:buClr>
              <a:buSzPts val="1500"/>
              <a:buChar char="○"/>
            </a:pPr>
            <a:r>
              <a:rPr lang="en" sz="3000">
                <a:solidFill>
                  <a:schemeClr val="dk1"/>
                </a:solidFill>
              </a:rPr>
              <a:t>Each layer leverages features from all previous layers, improving performance with fewer parameters.</a:t>
            </a:r>
            <a:endParaRPr sz="3000">
              <a:solidFill>
                <a:schemeClr val="dk1"/>
              </a:solidFill>
            </a:endParaRPr>
          </a:p>
          <a:p>
            <a:pPr marL="914400" indent="-647700">
              <a:lnSpc>
                <a:spcPct val="115000"/>
              </a:lnSpc>
              <a:buClr>
                <a:schemeClr val="dk1"/>
              </a:buClr>
              <a:buSzPts val="1500"/>
              <a:buChar char="●"/>
            </a:pPr>
            <a:r>
              <a:rPr lang="en" sz="3000" b="1">
                <a:solidFill>
                  <a:schemeClr val="dk1"/>
                </a:solidFill>
              </a:rPr>
              <a:t>Compact Architecture</a:t>
            </a:r>
            <a:r>
              <a:rPr lang="en" sz="3000">
                <a:solidFill>
                  <a:schemeClr val="dk1"/>
                </a:solidFill>
              </a:rPr>
              <a:t>:</a:t>
            </a:r>
            <a:br>
              <a:rPr lang="en" sz="3000">
                <a:solidFill>
                  <a:schemeClr val="dk1"/>
                </a:solidFill>
              </a:rPr>
            </a:br>
            <a:endParaRPr sz="3000">
              <a:solidFill>
                <a:schemeClr val="dk1"/>
              </a:solidFill>
            </a:endParaRPr>
          </a:p>
          <a:p>
            <a:pPr marL="1828800" lvl="1" indent="-647700">
              <a:lnSpc>
                <a:spcPct val="115000"/>
              </a:lnSpc>
              <a:buClr>
                <a:schemeClr val="dk1"/>
              </a:buClr>
              <a:buSzPts val="1500"/>
              <a:buChar char="○"/>
            </a:pPr>
            <a:r>
              <a:rPr lang="en" sz="3000">
                <a:solidFill>
                  <a:schemeClr val="dk1"/>
                </a:solidFill>
              </a:rPr>
              <a:t>Achieves high accuracy with relatively fewer parameters compared to traditional CNNs.</a:t>
            </a:r>
            <a:endParaRPr sz="3000">
              <a:solidFill>
                <a:schemeClr val="dk1"/>
              </a:solidFill>
            </a:endParaRPr>
          </a:p>
          <a:p>
            <a:pPr marL="914400" indent="-647700">
              <a:lnSpc>
                <a:spcPct val="115000"/>
              </a:lnSpc>
              <a:buClr>
                <a:schemeClr val="dk1"/>
              </a:buClr>
              <a:buSzPts val="1500"/>
              <a:buChar char="●"/>
            </a:pPr>
            <a:r>
              <a:rPr lang="en" sz="3000" b="1">
                <a:solidFill>
                  <a:schemeClr val="dk1"/>
                </a:solidFill>
              </a:rPr>
              <a:t>Effective for Small Datasets</a:t>
            </a:r>
            <a:r>
              <a:rPr lang="en" sz="3000">
                <a:solidFill>
                  <a:schemeClr val="dk1"/>
                </a:solidFill>
              </a:rPr>
              <a:t>:</a:t>
            </a:r>
            <a:br>
              <a:rPr lang="en" sz="3000">
                <a:solidFill>
                  <a:schemeClr val="dk1"/>
                </a:solidFill>
              </a:rPr>
            </a:br>
            <a:endParaRPr sz="3000">
              <a:solidFill>
                <a:schemeClr val="dk1"/>
              </a:solidFill>
            </a:endParaRPr>
          </a:p>
          <a:p>
            <a:pPr marL="1828800" lvl="1" indent="-647700">
              <a:lnSpc>
                <a:spcPct val="115000"/>
              </a:lnSpc>
              <a:buClr>
                <a:schemeClr val="dk1"/>
              </a:buClr>
              <a:buSzPts val="1500"/>
              <a:buChar char="○"/>
            </a:pPr>
            <a:r>
              <a:rPr lang="en" sz="3000">
                <a:solidFill>
                  <a:schemeClr val="dk1"/>
                </a:solidFill>
              </a:rPr>
              <a:t>The model performs well even with limited data, like in specialized datasets (e.g., grape leaf disease detection).</a:t>
            </a:r>
            <a:endParaRPr sz="3000">
              <a:solidFill>
                <a:schemeClr val="dk1"/>
              </a:solidFill>
            </a:endParaRPr>
          </a:p>
          <a:p>
            <a:pPr>
              <a:lnSpc>
                <a:spcPct val="115000"/>
              </a:lnSpc>
              <a:spcBef>
                <a:spcPts val="3600"/>
              </a:spcBef>
              <a:spcAft>
                <a:spcPts val="3600"/>
              </a:spcAft>
            </a:pPr>
            <a:r>
              <a:rPr lang="en" sz="3000">
                <a:solidFill>
                  <a:schemeClr val="dk1"/>
                </a:solidFill>
              </a:rPr>
              <a:t>This should highlight the strengths of your custom CNN model and set it apart from other architectures like Restnet, Alexnet, Sparsenet in terms of efficiency and suitability for small datasets.</a:t>
            </a:r>
            <a:endParaRPr sz="3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C85D5-0EEF-C4A2-32C3-3F3577AF20C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6B6C3A6-39F6-5D75-FED1-61AD7FD4C199}"/>
              </a:ext>
            </a:extLst>
          </p:cNvPr>
          <p:cNvGrpSpPr/>
          <p:nvPr/>
        </p:nvGrpSpPr>
        <p:grpSpPr>
          <a:xfrm>
            <a:off x="0" y="0"/>
            <a:ext cx="6806369" cy="10287000"/>
            <a:chOff x="0" y="0"/>
            <a:chExt cx="1792624" cy="2709333"/>
          </a:xfrm>
        </p:grpSpPr>
        <p:sp>
          <p:nvSpPr>
            <p:cNvPr id="3" name="Freeform 3">
              <a:extLst>
                <a:ext uri="{FF2B5EF4-FFF2-40B4-BE49-F238E27FC236}">
                  <a16:creationId xmlns:a16="http://schemas.microsoft.com/office/drawing/2014/main" id="{A01FF046-3CD9-DF1A-9D95-19FE2D43960F}"/>
                </a:ext>
              </a:extLst>
            </p:cNvPr>
            <p:cNvSpPr/>
            <p:nvPr/>
          </p:nvSpPr>
          <p:spPr>
            <a:xfrm>
              <a:off x="0" y="0"/>
              <a:ext cx="1792624" cy="2709333"/>
            </a:xfrm>
            <a:custGeom>
              <a:avLst/>
              <a:gdLst/>
              <a:ahLst/>
              <a:cxnLst/>
              <a:rect l="l" t="t" r="r" b="b"/>
              <a:pathLst>
                <a:path w="1792624" h="2709333">
                  <a:moveTo>
                    <a:pt x="0" y="0"/>
                  </a:moveTo>
                  <a:lnTo>
                    <a:pt x="1792624" y="0"/>
                  </a:lnTo>
                  <a:lnTo>
                    <a:pt x="1792624" y="2709333"/>
                  </a:lnTo>
                  <a:lnTo>
                    <a:pt x="0" y="2709333"/>
                  </a:lnTo>
                  <a:close/>
                </a:path>
              </a:pathLst>
            </a:custGeom>
            <a:solidFill>
              <a:srgbClr val="F2F1F1">
                <a:alpha val="80000"/>
              </a:srgbClr>
            </a:solidFill>
          </p:spPr>
        </p:sp>
        <p:sp>
          <p:nvSpPr>
            <p:cNvPr id="4" name="TextBox 4">
              <a:extLst>
                <a:ext uri="{FF2B5EF4-FFF2-40B4-BE49-F238E27FC236}">
                  <a16:creationId xmlns:a16="http://schemas.microsoft.com/office/drawing/2014/main" id="{58678631-3B34-6C57-B79A-F27DFB4D39FC}"/>
                </a:ext>
              </a:extLst>
            </p:cNvPr>
            <p:cNvSpPr txBox="1"/>
            <p:nvPr/>
          </p:nvSpPr>
          <p:spPr>
            <a:xfrm>
              <a:off x="0" y="-47625"/>
              <a:ext cx="1792624" cy="2756958"/>
            </a:xfrm>
            <a:prstGeom prst="rect">
              <a:avLst/>
            </a:prstGeom>
          </p:spPr>
          <p:txBody>
            <a:bodyPr lIns="50800" tIns="50800" rIns="50800" bIns="50800" rtlCol="0" anchor="ctr"/>
            <a:lstStyle/>
            <a:p>
              <a:pPr algn="ctr">
                <a:lnSpc>
                  <a:spcPts val="3359"/>
                </a:lnSpc>
              </a:pPr>
              <a:endParaRPr/>
            </a:p>
          </p:txBody>
        </p:sp>
      </p:grpSp>
      <p:sp>
        <p:nvSpPr>
          <p:cNvPr id="7" name="TextBox 7">
            <a:extLst>
              <a:ext uri="{FF2B5EF4-FFF2-40B4-BE49-F238E27FC236}">
                <a16:creationId xmlns:a16="http://schemas.microsoft.com/office/drawing/2014/main" id="{21CB3766-47D8-09CC-BE1E-58BB10F00CE5}"/>
              </a:ext>
            </a:extLst>
          </p:cNvPr>
          <p:cNvSpPr txBox="1"/>
          <p:nvPr/>
        </p:nvSpPr>
        <p:spPr>
          <a:xfrm>
            <a:off x="5181600" y="422269"/>
            <a:ext cx="13601700" cy="949812"/>
          </a:xfrm>
          <a:prstGeom prst="rect">
            <a:avLst/>
          </a:prstGeom>
        </p:spPr>
        <p:txBody>
          <a:bodyPr wrap="square" lIns="0" tIns="0" rIns="0" bIns="0" rtlCol="0" anchor="t">
            <a:spAutoFit/>
          </a:bodyPr>
          <a:lstStyle/>
          <a:p>
            <a:pPr marL="0" lvl="0" indent="0" algn="l">
              <a:lnSpc>
                <a:spcPts val="8400"/>
              </a:lnSpc>
            </a:pPr>
            <a:r>
              <a:rPr lang="en-US" sz="4400" b="1" spc="300" dirty="0">
                <a:solidFill>
                  <a:srgbClr val="000000"/>
                </a:solidFill>
                <a:latin typeface="Helios Extended Bold"/>
                <a:ea typeface="Helios Extended Bold"/>
                <a:cs typeface="Helios Extended Bold"/>
                <a:sym typeface="Helios Extended Bold"/>
              </a:rPr>
              <a:t>Results &amp; Discussion</a:t>
            </a:r>
          </a:p>
        </p:txBody>
      </p:sp>
      <p:sp>
        <p:nvSpPr>
          <p:cNvPr id="8" name="TextBox 8">
            <a:extLst>
              <a:ext uri="{FF2B5EF4-FFF2-40B4-BE49-F238E27FC236}">
                <a16:creationId xmlns:a16="http://schemas.microsoft.com/office/drawing/2014/main" id="{2B3C38F7-D112-5FB7-630E-F79C4227B247}"/>
              </a:ext>
            </a:extLst>
          </p:cNvPr>
          <p:cNvSpPr txBox="1"/>
          <p:nvPr/>
        </p:nvSpPr>
        <p:spPr>
          <a:xfrm>
            <a:off x="1504121" y="5229229"/>
            <a:ext cx="14510992" cy="3470053"/>
          </a:xfrm>
          <a:prstGeom prst="rect">
            <a:avLst/>
          </a:prstGeom>
        </p:spPr>
        <p:txBody>
          <a:bodyPr wrap="square" lIns="0" tIns="0" rIns="0" bIns="0" rtlCol="0" anchor="t">
            <a:spAutoFit/>
          </a:bodyPr>
          <a:lstStyle/>
          <a:p>
            <a:pPr lvl="0" algn="just">
              <a:lnSpc>
                <a:spcPts val="3360"/>
              </a:lnSpc>
            </a:pPr>
            <a:r>
              <a:rPr lang="en-US" sz="2800" dirty="0"/>
              <a:t>As observed in the table, DenseNet121 outperforms all other models across all the evaluation metrics, achieving the highest values for accuracy, recall, precision, F1 score, MCC, PR AUC, Kappa, and specificity. Specifically, DenseNet121 achieved an accuracy of 99.27%, significantly surpassing the other models, with ResNet18 following closely at 97.56%. The remarkable performance of DenseNet121 highlights its superiority in handling the classification task, particularly when compared to models like </a:t>
            </a:r>
            <a:r>
              <a:rPr lang="en-US" sz="2800" dirty="0" err="1"/>
              <a:t>AlexNet</a:t>
            </a:r>
            <a:r>
              <a:rPr lang="en-US" sz="2800" dirty="0"/>
              <a:t> and </a:t>
            </a:r>
            <a:r>
              <a:rPr lang="en-US" sz="2800" dirty="0" err="1"/>
              <a:t>SqueezeNet</a:t>
            </a:r>
            <a:r>
              <a:rPr lang="en-US" sz="2800" dirty="0"/>
              <a:t>, which exhibited relatively lower accuracies of 94.39% and 95.12%, respectively. The DenseNet121 model’s consistent performance across multiple metrics validates its efficiency and effectiveness for this task.</a:t>
            </a:r>
            <a:endParaRPr lang="en-US" sz="2800" spc="210" dirty="0">
              <a:solidFill>
                <a:srgbClr val="000000"/>
              </a:solidFill>
              <a:latin typeface="Lato"/>
              <a:ea typeface="Lato"/>
              <a:cs typeface="Lato"/>
              <a:sym typeface="Lato"/>
            </a:endParaRPr>
          </a:p>
        </p:txBody>
      </p:sp>
      <p:grpSp>
        <p:nvGrpSpPr>
          <p:cNvPr id="12" name="Group 12">
            <a:extLst>
              <a:ext uri="{FF2B5EF4-FFF2-40B4-BE49-F238E27FC236}">
                <a16:creationId xmlns:a16="http://schemas.microsoft.com/office/drawing/2014/main" id="{ADD8DE86-3409-46A7-F98C-B0CC880AC359}"/>
              </a:ext>
            </a:extLst>
          </p:cNvPr>
          <p:cNvGrpSpPr/>
          <p:nvPr/>
        </p:nvGrpSpPr>
        <p:grpSpPr>
          <a:xfrm>
            <a:off x="780210" y="780210"/>
            <a:ext cx="248490" cy="248490"/>
            <a:chOff x="0" y="0"/>
            <a:chExt cx="812800" cy="812800"/>
          </a:xfrm>
        </p:grpSpPr>
        <p:sp>
          <p:nvSpPr>
            <p:cNvPr id="13" name="Freeform 13">
              <a:extLst>
                <a:ext uri="{FF2B5EF4-FFF2-40B4-BE49-F238E27FC236}">
                  <a16:creationId xmlns:a16="http://schemas.microsoft.com/office/drawing/2014/main" id="{37507D86-B5F2-3F52-DD81-E30765F13749}"/>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4" name="TextBox 14">
              <a:extLst>
                <a:ext uri="{FF2B5EF4-FFF2-40B4-BE49-F238E27FC236}">
                  <a16:creationId xmlns:a16="http://schemas.microsoft.com/office/drawing/2014/main" id="{106F2579-A488-0709-2452-4DBDA9584BC9}"/>
                </a:ext>
              </a:extLst>
            </p:cNvPr>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pic>
        <p:nvPicPr>
          <p:cNvPr id="16" name="Picture 15">
            <a:extLst>
              <a:ext uri="{FF2B5EF4-FFF2-40B4-BE49-F238E27FC236}">
                <a16:creationId xmlns:a16="http://schemas.microsoft.com/office/drawing/2014/main" id="{20B75D23-3B6D-6991-1D00-186E6F81DC1B}"/>
              </a:ext>
            </a:extLst>
          </p:cNvPr>
          <p:cNvPicPr>
            <a:picLocks noChangeAspect="1"/>
          </p:cNvPicPr>
          <p:nvPr/>
        </p:nvPicPr>
        <p:blipFill>
          <a:blip r:embed="rId2"/>
          <a:stretch>
            <a:fillRect/>
          </a:stretch>
        </p:blipFill>
        <p:spPr>
          <a:xfrm>
            <a:off x="1504121" y="2682738"/>
            <a:ext cx="14510993" cy="2308568"/>
          </a:xfrm>
          <a:prstGeom prst="rect">
            <a:avLst/>
          </a:prstGeom>
        </p:spPr>
      </p:pic>
      <p:sp>
        <p:nvSpPr>
          <p:cNvPr id="21" name="TextBox 20">
            <a:extLst>
              <a:ext uri="{FF2B5EF4-FFF2-40B4-BE49-F238E27FC236}">
                <a16:creationId xmlns:a16="http://schemas.microsoft.com/office/drawing/2014/main" id="{D76B5EF7-73D8-E6E7-F86A-7FA3FE0708AA}"/>
              </a:ext>
            </a:extLst>
          </p:cNvPr>
          <p:cNvSpPr txBox="1"/>
          <p:nvPr/>
        </p:nvSpPr>
        <p:spPr>
          <a:xfrm>
            <a:off x="1504121" y="1921595"/>
            <a:ext cx="9087679" cy="646331"/>
          </a:xfrm>
          <a:prstGeom prst="rect">
            <a:avLst/>
          </a:prstGeom>
          <a:noFill/>
        </p:spPr>
        <p:txBody>
          <a:bodyPr wrap="square" rtlCol="0">
            <a:spAutoFit/>
          </a:bodyPr>
          <a:lstStyle/>
          <a:p>
            <a:r>
              <a:rPr lang="en-US" sz="3600" b="1" dirty="0"/>
              <a:t>Model Performance Comparison</a:t>
            </a:r>
          </a:p>
        </p:txBody>
      </p:sp>
    </p:spTree>
    <p:extLst>
      <p:ext uri="{BB962C8B-B14F-4D97-AF65-F5344CB8AC3E}">
        <p14:creationId xmlns:p14="http://schemas.microsoft.com/office/powerpoint/2010/main" val="676760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4CDD7-85E8-CF57-EC83-29A273C6A9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984F5C-2EE5-0820-79F2-DAE9066E7D8B}"/>
              </a:ext>
            </a:extLst>
          </p:cNvPr>
          <p:cNvGrpSpPr/>
          <p:nvPr/>
        </p:nvGrpSpPr>
        <p:grpSpPr>
          <a:xfrm>
            <a:off x="0" y="0"/>
            <a:ext cx="6806369" cy="10287000"/>
            <a:chOff x="0" y="0"/>
            <a:chExt cx="1792624" cy="2709333"/>
          </a:xfrm>
        </p:grpSpPr>
        <p:sp>
          <p:nvSpPr>
            <p:cNvPr id="3" name="Freeform 3">
              <a:extLst>
                <a:ext uri="{FF2B5EF4-FFF2-40B4-BE49-F238E27FC236}">
                  <a16:creationId xmlns:a16="http://schemas.microsoft.com/office/drawing/2014/main" id="{A46127D1-F094-4950-8039-BB3187C64E7C}"/>
                </a:ext>
              </a:extLst>
            </p:cNvPr>
            <p:cNvSpPr/>
            <p:nvPr/>
          </p:nvSpPr>
          <p:spPr>
            <a:xfrm>
              <a:off x="0" y="0"/>
              <a:ext cx="1792624" cy="2709333"/>
            </a:xfrm>
            <a:custGeom>
              <a:avLst/>
              <a:gdLst/>
              <a:ahLst/>
              <a:cxnLst/>
              <a:rect l="l" t="t" r="r" b="b"/>
              <a:pathLst>
                <a:path w="1792624" h="2709333">
                  <a:moveTo>
                    <a:pt x="0" y="0"/>
                  </a:moveTo>
                  <a:lnTo>
                    <a:pt x="1792624" y="0"/>
                  </a:lnTo>
                  <a:lnTo>
                    <a:pt x="1792624" y="2709333"/>
                  </a:lnTo>
                  <a:lnTo>
                    <a:pt x="0" y="2709333"/>
                  </a:lnTo>
                  <a:close/>
                </a:path>
              </a:pathLst>
            </a:custGeom>
            <a:solidFill>
              <a:srgbClr val="F2F1F1">
                <a:alpha val="80000"/>
              </a:srgbClr>
            </a:solidFill>
          </p:spPr>
        </p:sp>
        <p:sp>
          <p:nvSpPr>
            <p:cNvPr id="4" name="TextBox 4">
              <a:extLst>
                <a:ext uri="{FF2B5EF4-FFF2-40B4-BE49-F238E27FC236}">
                  <a16:creationId xmlns:a16="http://schemas.microsoft.com/office/drawing/2014/main" id="{72DCDF64-C9A9-9A4F-5C9C-4039B670651D}"/>
                </a:ext>
              </a:extLst>
            </p:cNvPr>
            <p:cNvSpPr txBox="1"/>
            <p:nvPr/>
          </p:nvSpPr>
          <p:spPr>
            <a:xfrm>
              <a:off x="0" y="-47625"/>
              <a:ext cx="1792624" cy="2756958"/>
            </a:xfrm>
            <a:prstGeom prst="rect">
              <a:avLst/>
            </a:prstGeom>
          </p:spPr>
          <p:txBody>
            <a:bodyPr lIns="50800" tIns="50800" rIns="50800" bIns="50800" rtlCol="0" anchor="ctr"/>
            <a:lstStyle/>
            <a:p>
              <a:pPr algn="ctr">
                <a:lnSpc>
                  <a:spcPts val="3359"/>
                </a:lnSpc>
              </a:pPr>
              <a:endParaRPr/>
            </a:p>
          </p:txBody>
        </p:sp>
      </p:grpSp>
      <p:sp>
        <p:nvSpPr>
          <p:cNvPr id="7" name="TextBox 7">
            <a:extLst>
              <a:ext uri="{FF2B5EF4-FFF2-40B4-BE49-F238E27FC236}">
                <a16:creationId xmlns:a16="http://schemas.microsoft.com/office/drawing/2014/main" id="{78149A2C-DD2A-DA87-56D7-046896A58788}"/>
              </a:ext>
            </a:extLst>
          </p:cNvPr>
          <p:cNvSpPr txBox="1"/>
          <p:nvPr/>
        </p:nvSpPr>
        <p:spPr>
          <a:xfrm>
            <a:off x="5181600" y="422269"/>
            <a:ext cx="13601700" cy="949812"/>
          </a:xfrm>
          <a:prstGeom prst="rect">
            <a:avLst/>
          </a:prstGeom>
        </p:spPr>
        <p:txBody>
          <a:bodyPr wrap="square" lIns="0" tIns="0" rIns="0" bIns="0" rtlCol="0" anchor="t">
            <a:spAutoFit/>
          </a:bodyPr>
          <a:lstStyle/>
          <a:p>
            <a:pPr marL="0" lvl="0" indent="0" algn="l">
              <a:lnSpc>
                <a:spcPts val="8400"/>
              </a:lnSpc>
            </a:pPr>
            <a:r>
              <a:rPr lang="en-US" sz="4400" b="1" spc="300" dirty="0">
                <a:solidFill>
                  <a:srgbClr val="000000"/>
                </a:solidFill>
                <a:latin typeface="Helios Extended Bold"/>
                <a:ea typeface="Helios Extended Bold"/>
                <a:cs typeface="Helios Extended Bold"/>
                <a:sym typeface="Helios Extended Bold"/>
              </a:rPr>
              <a:t>Results &amp; Discussion</a:t>
            </a:r>
          </a:p>
        </p:txBody>
      </p:sp>
      <p:sp>
        <p:nvSpPr>
          <p:cNvPr id="9" name="TextBox 9">
            <a:extLst>
              <a:ext uri="{FF2B5EF4-FFF2-40B4-BE49-F238E27FC236}">
                <a16:creationId xmlns:a16="http://schemas.microsoft.com/office/drawing/2014/main" id="{DC6F7C6F-F03C-6C88-F24B-2C42B43849D5}"/>
              </a:ext>
            </a:extLst>
          </p:cNvPr>
          <p:cNvSpPr txBox="1"/>
          <p:nvPr/>
        </p:nvSpPr>
        <p:spPr>
          <a:xfrm>
            <a:off x="2167746" y="5419616"/>
            <a:ext cx="14367653" cy="3906069"/>
          </a:xfrm>
          <a:prstGeom prst="rect">
            <a:avLst/>
          </a:prstGeom>
        </p:spPr>
        <p:txBody>
          <a:bodyPr wrap="square" lIns="0" tIns="0" rIns="0" bIns="0" rtlCol="0" anchor="t">
            <a:spAutoFit/>
          </a:bodyPr>
          <a:lstStyle/>
          <a:p>
            <a:pPr lvl="0" algn="just">
              <a:lnSpc>
                <a:spcPts val="3360"/>
              </a:lnSpc>
            </a:pPr>
            <a:r>
              <a:rPr lang="en-US" sz="2800" dirty="0"/>
              <a:t>As shown in the table, ResNet18 has the fastest inference time of 00:00:05 and requires the shortest training time of 00:01:45 for 10 epochs. However, the trade-off is its slightly lower performance in accuracy, precision, and recall. VGG16 has a longer training time of 00:05:39 for 20 epochs, with a corresponding increase in validation accuracy, but its inference time is slower compared to ResNet18. </a:t>
            </a:r>
            <a:r>
              <a:rPr lang="en-US" sz="2800" dirty="0" err="1"/>
              <a:t>AlexNet</a:t>
            </a:r>
            <a:r>
              <a:rPr lang="en-US" sz="2800" dirty="0"/>
              <a:t> and </a:t>
            </a:r>
            <a:r>
              <a:rPr lang="en-US" sz="2800" dirty="0" err="1"/>
              <a:t>SqueezeNet</a:t>
            </a:r>
            <a:r>
              <a:rPr lang="en-US" sz="2800" dirty="0"/>
              <a:t> both have relatively fast training times but lag behind in performance metrics such as accuracy and F1 score. On the other hand, DenseNet121 strikes a balance between performance and efficiency with a solid inference time of 00:00:10 and a training time of 00:03:49 for 16 epochs, while outperforming all other models in accuracy, recall, and precision.</a:t>
            </a:r>
            <a:endParaRPr lang="en-US" sz="2800" spc="210" dirty="0">
              <a:solidFill>
                <a:srgbClr val="000000"/>
              </a:solidFill>
              <a:latin typeface="Lato"/>
              <a:ea typeface="Lato"/>
              <a:cs typeface="Lato"/>
              <a:sym typeface="Lato"/>
            </a:endParaRPr>
          </a:p>
        </p:txBody>
      </p:sp>
      <p:grpSp>
        <p:nvGrpSpPr>
          <p:cNvPr id="12" name="Group 12">
            <a:extLst>
              <a:ext uri="{FF2B5EF4-FFF2-40B4-BE49-F238E27FC236}">
                <a16:creationId xmlns:a16="http://schemas.microsoft.com/office/drawing/2014/main" id="{21C4C4A8-1CB3-5EAD-05A3-FDE151E6B67A}"/>
              </a:ext>
            </a:extLst>
          </p:cNvPr>
          <p:cNvGrpSpPr/>
          <p:nvPr/>
        </p:nvGrpSpPr>
        <p:grpSpPr>
          <a:xfrm>
            <a:off x="780210" y="780210"/>
            <a:ext cx="248490" cy="248490"/>
            <a:chOff x="0" y="0"/>
            <a:chExt cx="812800" cy="812800"/>
          </a:xfrm>
        </p:grpSpPr>
        <p:sp>
          <p:nvSpPr>
            <p:cNvPr id="13" name="Freeform 13">
              <a:extLst>
                <a:ext uri="{FF2B5EF4-FFF2-40B4-BE49-F238E27FC236}">
                  <a16:creationId xmlns:a16="http://schemas.microsoft.com/office/drawing/2014/main" id="{FB51917F-CC44-B371-1D0F-1649E2988AEB}"/>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4" name="TextBox 14">
              <a:extLst>
                <a:ext uri="{FF2B5EF4-FFF2-40B4-BE49-F238E27FC236}">
                  <a16:creationId xmlns:a16="http://schemas.microsoft.com/office/drawing/2014/main" id="{AA9B68FA-1876-4897-0092-74BF938B2148}"/>
                </a:ext>
              </a:extLst>
            </p:cNvPr>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pic>
        <p:nvPicPr>
          <p:cNvPr id="20" name="Picture 19">
            <a:extLst>
              <a:ext uri="{FF2B5EF4-FFF2-40B4-BE49-F238E27FC236}">
                <a16:creationId xmlns:a16="http://schemas.microsoft.com/office/drawing/2014/main" id="{BB6D367A-32FB-3146-613B-929BA9B9E56C}"/>
              </a:ext>
            </a:extLst>
          </p:cNvPr>
          <p:cNvPicPr>
            <a:picLocks noChangeAspect="1"/>
          </p:cNvPicPr>
          <p:nvPr/>
        </p:nvPicPr>
        <p:blipFill>
          <a:blip r:embed="rId2"/>
          <a:stretch>
            <a:fillRect/>
          </a:stretch>
        </p:blipFill>
        <p:spPr>
          <a:xfrm>
            <a:off x="2167747" y="2403469"/>
            <a:ext cx="9814703" cy="2740031"/>
          </a:xfrm>
          <a:prstGeom prst="rect">
            <a:avLst/>
          </a:prstGeom>
        </p:spPr>
      </p:pic>
      <p:sp>
        <p:nvSpPr>
          <p:cNvPr id="6" name="TextBox 5">
            <a:extLst>
              <a:ext uri="{FF2B5EF4-FFF2-40B4-BE49-F238E27FC236}">
                <a16:creationId xmlns:a16="http://schemas.microsoft.com/office/drawing/2014/main" id="{F67F25FD-910C-6E8A-BC8D-3C037D07D767}"/>
              </a:ext>
            </a:extLst>
          </p:cNvPr>
          <p:cNvSpPr txBox="1"/>
          <p:nvPr/>
        </p:nvSpPr>
        <p:spPr>
          <a:xfrm>
            <a:off x="2286000" y="1728281"/>
            <a:ext cx="7890653" cy="584775"/>
          </a:xfrm>
          <a:prstGeom prst="rect">
            <a:avLst/>
          </a:prstGeom>
          <a:noFill/>
        </p:spPr>
        <p:txBody>
          <a:bodyPr wrap="square" rtlCol="0">
            <a:spAutoFit/>
          </a:bodyPr>
          <a:lstStyle/>
          <a:p>
            <a:r>
              <a:rPr lang="en-US" sz="3200" b="1" dirty="0"/>
              <a:t>Inference and Training Time Comparison</a:t>
            </a:r>
          </a:p>
        </p:txBody>
      </p:sp>
    </p:spTree>
    <p:extLst>
      <p:ext uri="{BB962C8B-B14F-4D97-AF65-F5344CB8AC3E}">
        <p14:creationId xmlns:p14="http://schemas.microsoft.com/office/powerpoint/2010/main" val="19290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96453-78DA-51B6-31A7-C04C9C4C6B2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6C564C8-9414-744B-4EB9-4BA49E5466F6}"/>
              </a:ext>
            </a:extLst>
          </p:cNvPr>
          <p:cNvGrpSpPr/>
          <p:nvPr/>
        </p:nvGrpSpPr>
        <p:grpSpPr>
          <a:xfrm>
            <a:off x="0" y="0"/>
            <a:ext cx="6806369" cy="10287000"/>
            <a:chOff x="0" y="0"/>
            <a:chExt cx="1792624" cy="2709333"/>
          </a:xfrm>
        </p:grpSpPr>
        <p:sp>
          <p:nvSpPr>
            <p:cNvPr id="3" name="Freeform 3">
              <a:extLst>
                <a:ext uri="{FF2B5EF4-FFF2-40B4-BE49-F238E27FC236}">
                  <a16:creationId xmlns:a16="http://schemas.microsoft.com/office/drawing/2014/main" id="{22969211-47B1-27CD-3124-1D32305034B6}"/>
                </a:ext>
              </a:extLst>
            </p:cNvPr>
            <p:cNvSpPr/>
            <p:nvPr/>
          </p:nvSpPr>
          <p:spPr>
            <a:xfrm>
              <a:off x="0" y="0"/>
              <a:ext cx="1792624" cy="2709333"/>
            </a:xfrm>
            <a:custGeom>
              <a:avLst/>
              <a:gdLst/>
              <a:ahLst/>
              <a:cxnLst/>
              <a:rect l="l" t="t" r="r" b="b"/>
              <a:pathLst>
                <a:path w="1792624" h="2709333">
                  <a:moveTo>
                    <a:pt x="0" y="0"/>
                  </a:moveTo>
                  <a:lnTo>
                    <a:pt x="1792624" y="0"/>
                  </a:lnTo>
                  <a:lnTo>
                    <a:pt x="1792624" y="2709333"/>
                  </a:lnTo>
                  <a:lnTo>
                    <a:pt x="0" y="2709333"/>
                  </a:lnTo>
                  <a:close/>
                </a:path>
              </a:pathLst>
            </a:custGeom>
            <a:solidFill>
              <a:srgbClr val="F2F1F1">
                <a:alpha val="80000"/>
              </a:srgbClr>
            </a:solidFill>
          </p:spPr>
        </p:sp>
        <p:sp>
          <p:nvSpPr>
            <p:cNvPr id="4" name="TextBox 4">
              <a:extLst>
                <a:ext uri="{FF2B5EF4-FFF2-40B4-BE49-F238E27FC236}">
                  <a16:creationId xmlns:a16="http://schemas.microsoft.com/office/drawing/2014/main" id="{CCF3B706-93FA-69BF-621D-3E0B57B84F76}"/>
                </a:ext>
              </a:extLst>
            </p:cNvPr>
            <p:cNvSpPr txBox="1"/>
            <p:nvPr/>
          </p:nvSpPr>
          <p:spPr>
            <a:xfrm>
              <a:off x="0" y="-47625"/>
              <a:ext cx="1792624" cy="2756958"/>
            </a:xfrm>
            <a:prstGeom prst="rect">
              <a:avLst/>
            </a:prstGeom>
          </p:spPr>
          <p:txBody>
            <a:bodyPr lIns="50800" tIns="50800" rIns="50800" bIns="50800" rtlCol="0" anchor="ctr"/>
            <a:lstStyle/>
            <a:p>
              <a:pPr algn="ctr">
                <a:lnSpc>
                  <a:spcPts val="3359"/>
                </a:lnSpc>
              </a:pPr>
              <a:endParaRPr/>
            </a:p>
          </p:txBody>
        </p:sp>
      </p:grpSp>
      <p:sp>
        <p:nvSpPr>
          <p:cNvPr id="7" name="TextBox 7">
            <a:extLst>
              <a:ext uri="{FF2B5EF4-FFF2-40B4-BE49-F238E27FC236}">
                <a16:creationId xmlns:a16="http://schemas.microsoft.com/office/drawing/2014/main" id="{E1595506-9F66-06D7-CB56-317DC7E80613}"/>
              </a:ext>
            </a:extLst>
          </p:cNvPr>
          <p:cNvSpPr txBox="1"/>
          <p:nvPr/>
        </p:nvSpPr>
        <p:spPr>
          <a:xfrm>
            <a:off x="4572000" y="31615"/>
            <a:ext cx="13601700" cy="949812"/>
          </a:xfrm>
          <a:prstGeom prst="rect">
            <a:avLst/>
          </a:prstGeom>
        </p:spPr>
        <p:txBody>
          <a:bodyPr wrap="square" lIns="0" tIns="0" rIns="0" bIns="0" rtlCol="0" anchor="t">
            <a:spAutoFit/>
          </a:bodyPr>
          <a:lstStyle/>
          <a:p>
            <a:pPr marL="0" lvl="0" indent="0" algn="l">
              <a:lnSpc>
                <a:spcPts val="8400"/>
              </a:lnSpc>
            </a:pPr>
            <a:r>
              <a:rPr lang="en-US" sz="3600" b="1" spc="300" dirty="0">
                <a:solidFill>
                  <a:srgbClr val="000000"/>
                </a:solidFill>
                <a:latin typeface="Helios Extended Bold"/>
                <a:ea typeface="Helios Extended Bold"/>
                <a:cs typeface="Helios Extended Bold"/>
                <a:sym typeface="Helios Extended Bold"/>
              </a:rPr>
              <a:t>Performance Evaluation Figures</a:t>
            </a:r>
          </a:p>
        </p:txBody>
      </p:sp>
      <p:sp>
        <p:nvSpPr>
          <p:cNvPr id="9" name="TextBox 9">
            <a:extLst>
              <a:ext uri="{FF2B5EF4-FFF2-40B4-BE49-F238E27FC236}">
                <a16:creationId xmlns:a16="http://schemas.microsoft.com/office/drawing/2014/main" id="{FD1B127B-862F-F4AD-0B85-F2831078A8E5}"/>
              </a:ext>
            </a:extLst>
          </p:cNvPr>
          <p:cNvSpPr txBox="1"/>
          <p:nvPr/>
        </p:nvSpPr>
        <p:spPr>
          <a:xfrm>
            <a:off x="1384744" y="7410901"/>
            <a:ext cx="6806369" cy="2601866"/>
          </a:xfrm>
          <a:prstGeom prst="rect">
            <a:avLst/>
          </a:prstGeom>
        </p:spPr>
        <p:txBody>
          <a:bodyPr wrap="square" lIns="0" tIns="0" rIns="0" bIns="0" rtlCol="0" anchor="t">
            <a:spAutoFit/>
          </a:bodyPr>
          <a:lstStyle/>
          <a:p>
            <a:pPr lvl="0" algn="just">
              <a:lnSpc>
                <a:spcPts val="3360"/>
              </a:lnSpc>
            </a:pPr>
            <a:r>
              <a:rPr lang="en-US" sz="2800" dirty="0"/>
              <a:t>The Confusion Matrix shows how well the model performs for each class. From the matrix, we can observe that DenseNet121 has a high true positive rate and minimal false positives, indicating its effectiveness in distinguishing between the classes.</a:t>
            </a:r>
          </a:p>
        </p:txBody>
      </p:sp>
      <p:grpSp>
        <p:nvGrpSpPr>
          <p:cNvPr id="12" name="Group 12">
            <a:extLst>
              <a:ext uri="{FF2B5EF4-FFF2-40B4-BE49-F238E27FC236}">
                <a16:creationId xmlns:a16="http://schemas.microsoft.com/office/drawing/2014/main" id="{324D281F-5D49-A496-4A5D-A72452133928}"/>
              </a:ext>
            </a:extLst>
          </p:cNvPr>
          <p:cNvGrpSpPr/>
          <p:nvPr/>
        </p:nvGrpSpPr>
        <p:grpSpPr>
          <a:xfrm>
            <a:off x="780210" y="780210"/>
            <a:ext cx="248490" cy="248490"/>
            <a:chOff x="0" y="0"/>
            <a:chExt cx="812800" cy="812800"/>
          </a:xfrm>
        </p:grpSpPr>
        <p:sp>
          <p:nvSpPr>
            <p:cNvPr id="13" name="Freeform 13">
              <a:extLst>
                <a:ext uri="{FF2B5EF4-FFF2-40B4-BE49-F238E27FC236}">
                  <a16:creationId xmlns:a16="http://schemas.microsoft.com/office/drawing/2014/main" id="{CFDF3C15-C8D2-FFA5-A381-4C90EA1BE84F}"/>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4" name="TextBox 14">
              <a:extLst>
                <a:ext uri="{FF2B5EF4-FFF2-40B4-BE49-F238E27FC236}">
                  <a16:creationId xmlns:a16="http://schemas.microsoft.com/office/drawing/2014/main" id="{37B8839D-97ED-6011-EB9D-4203A496F292}"/>
                </a:ext>
              </a:extLst>
            </p:cNvPr>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6" name="TextBox 5">
            <a:extLst>
              <a:ext uri="{FF2B5EF4-FFF2-40B4-BE49-F238E27FC236}">
                <a16:creationId xmlns:a16="http://schemas.microsoft.com/office/drawing/2014/main" id="{5FB40DEA-55BE-5F08-F2F5-C40129220155}"/>
              </a:ext>
            </a:extLst>
          </p:cNvPr>
          <p:cNvSpPr txBox="1"/>
          <p:nvPr/>
        </p:nvSpPr>
        <p:spPr>
          <a:xfrm>
            <a:off x="1384744" y="1215736"/>
            <a:ext cx="7890653" cy="584775"/>
          </a:xfrm>
          <a:prstGeom prst="rect">
            <a:avLst/>
          </a:prstGeom>
          <a:noFill/>
        </p:spPr>
        <p:txBody>
          <a:bodyPr wrap="square" rtlCol="0">
            <a:spAutoFit/>
          </a:bodyPr>
          <a:lstStyle/>
          <a:p>
            <a:r>
              <a:rPr lang="en-US" sz="3200" b="1" dirty="0"/>
              <a:t>Confusion Matrix </a:t>
            </a:r>
          </a:p>
        </p:txBody>
      </p:sp>
      <p:pic>
        <p:nvPicPr>
          <p:cNvPr id="8" name="Picture 7">
            <a:extLst>
              <a:ext uri="{FF2B5EF4-FFF2-40B4-BE49-F238E27FC236}">
                <a16:creationId xmlns:a16="http://schemas.microsoft.com/office/drawing/2014/main" id="{F682F18F-3A79-8552-3DCE-DB040A238A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4744" y="1890924"/>
            <a:ext cx="6061854" cy="5339151"/>
          </a:xfrm>
          <a:prstGeom prst="rect">
            <a:avLst/>
          </a:prstGeom>
        </p:spPr>
      </p:pic>
      <p:pic>
        <p:nvPicPr>
          <p:cNvPr id="18" name="Picture 17">
            <a:extLst>
              <a:ext uri="{FF2B5EF4-FFF2-40B4-BE49-F238E27FC236}">
                <a16:creationId xmlns:a16="http://schemas.microsoft.com/office/drawing/2014/main" id="{5AAB8F9F-567D-9C99-1402-038C9BDDB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600" y="2034820"/>
            <a:ext cx="9379432" cy="3829247"/>
          </a:xfrm>
          <a:prstGeom prst="rect">
            <a:avLst/>
          </a:prstGeom>
        </p:spPr>
      </p:pic>
      <p:sp>
        <p:nvSpPr>
          <p:cNvPr id="19" name="TextBox 18">
            <a:extLst>
              <a:ext uri="{FF2B5EF4-FFF2-40B4-BE49-F238E27FC236}">
                <a16:creationId xmlns:a16="http://schemas.microsoft.com/office/drawing/2014/main" id="{16114651-1411-638A-5006-BC5036882708}"/>
              </a:ext>
            </a:extLst>
          </p:cNvPr>
          <p:cNvSpPr txBox="1"/>
          <p:nvPr/>
        </p:nvSpPr>
        <p:spPr>
          <a:xfrm>
            <a:off x="9109316" y="1316346"/>
            <a:ext cx="8382000" cy="523220"/>
          </a:xfrm>
          <a:prstGeom prst="rect">
            <a:avLst/>
          </a:prstGeom>
          <a:noFill/>
        </p:spPr>
        <p:txBody>
          <a:bodyPr wrap="square" rtlCol="0">
            <a:spAutoFit/>
          </a:bodyPr>
          <a:lstStyle/>
          <a:p>
            <a:r>
              <a:rPr lang="en-US" sz="2800" b="1" dirty="0"/>
              <a:t>ROC AUC and Precision-Recall Curve</a:t>
            </a:r>
          </a:p>
        </p:txBody>
      </p:sp>
      <p:sp>
        <p:nvSpPr>
          <p:cNvPr id="21" name="TextBox 20">
            <a:extLst>
              <a:ext uri="{FF2B5EF4-FFF2-40B4-BE49-F238E27FC236}">
                <a16:creationId xmlns:a16="http://schemas.microsoft.com/office/drawing/2014/main" id="{E43069EB-EDAE-D8C2-8D92-7327DF5F8D4C}"/>
              </a:ext>
            </a:extLst>
          </p:cNvPr>
          <p:cNvSpPr txBox="1"/>
          <p:nvPr/>
        </p:nvSpPr>
        <p:spPr>
          <a:xfrm>
            <a:off x="8831342" y="6286500"/>
            <a:ext cx="9150832" cy="3539430"/>
          </a:xfrm>
          <a:prstGeom prst="rect">
            <a:avLst/>
          </a:prstGeom>
          <a:noFill/>
        </p:spPr>
        <p:txBody>
          <a:bodyPr wrap="square" rtlCol="0">
            <a:spAutoFit/>
          </a:bodyPr>
          <a:lstStyle/>
          <a:p>
            <a:r>
              <a:rPr lang="en-US" sz="2800" dirty="0"/>
              <a:t>The ROC AUC Curve shows that DenseNet121 has a high true positive rate and low false positive rate, with an AUC value close to 1, confirming its ability to discriminate between classes effectively. The Precision-Recall Curve illustrates that the model maintains high precision and recall, indicating balanced performance in terms of correctly classifying positive samples and minimizing false positives</a:t>
            </a:r>
            <a:endParaRPr lang="en-US" sz="2800" spc="210" dirty="0">
              <a:solidFill>
                <a:srgbClr val="000000"/>
              </a:solidFill>
              <a:latin typeface="Lato"/>
              <a:ea typeface="Lato"/>
              <a:cs typeface="Lato"/>
              <a:sym typeface="Lato"/>
            </a:endParaRPr>
          </a:p>
          <a:p>
            <a:endParaRPr lang="en-US" sz="2800" dirty="0"/>
          </a:p>
        </p:txBody>
      </p:sp>
    </p:spTree>
    <p:extLst>
      <p:ext uri="{BB962C8B-B14F-4D97-AF65-F5344CB8AC3E}">
        <p14:creationId xmlns:p14="http://schemas.microsoft.com/office/powerpoint/2010/main" val="3300364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9A804-8E48-F67C-2A57-B1AAD25735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BD62EE-10AA-B82F-2D6C-1792E89542D8}"/>
              </a:ext>
            </a:extLst>
          </p:cNvPr>
          <p:cNvGrpSpPr/>
          <p:nvPr/>
        </p:nvGrpSpPr>
        <p:grpSpPr>
          <a:xfrm>
            <a:off x="0" y="0"/>
            <a:ext cx="6806369" cy="10287000"/>
            <a:chOff x="0" y="0"/>
            <a:chExt cx="1792624" cy="2709333"/>
          </a:xfrm>
        </p:grpSpPr>
        <p:sp>
          <p:nvSpPr>
            <p:cNvPr id="3" name="Freeform 3">
              <a:extLst>
                <a:ext uri="{FF2B5EF4-FFF2-40B4-BE49-F238E27FC236}">
                  <a16:creationId xmlns:a16="http://schemas.microsoft.com/office/drawing/2014/main" id="{E4CC7A8E-15D5-D898-B30F-E756F51A2D1A}"/>
                </a:ext>
              </a:extLst>
            </p:cNvPr>
            <p:cNvSpPr/>
            <p:nvPr/>
          </p:nvSpPr>
          <p:spPr>
            <a:xfrm>
              <a:off x="0" y="0"/>
              <a:ext cx="1792624" cy="2709333"/>
            </a:xfrm>
            <a:custGeom>
              <a:avLst/>
              <a:gdLst/>
              <a:ahLst/>
              <a:cxnLst/>
              <a:rect l="l" t="t" r="r" b="b"/>
              <a:pathLst>
                <a:path w="1792624" h="2709333">
                  <a:moveTo>
                    <a:pt x="0" y="0"/>
                  </a:moveTo>
                  <a:lnTo>
                    <a:pt x="1792624" y="0"/>
                  </a:lnTo>
                  <a:lnTo>
                    <a:pt x="1792624" y="2709333"/>
                  </a:lnTo>
                  <a:lnTo>
                    <a:pt x="0" y="2709333"/>
                  </a:lnTo>
                  <a:close/>
                </a:path>
              </a:pathLst>
            </a:custGeom>
            <a:solidFill>
              <a:srgbClr val="F2F1F1">
                <a:alpha val="80000"/>
              </a:srgbClr>
            </a:solidFill>
          </p:spPr>
        </p:sp>
        <p:sp>
          <p:nvSpPr>
            <p:cNvPr id="4" name="TextBox 4">
              <a:extLst>
                <a:ext uri="{FF2B5EF4-FFF2-40B4-BE49-F238E27FC236}">
                  <a16:creationId xmlns:a16="http://schemas.microsoft.com/office/drawing/2014/main" id="{9D22C922-B03B-BE54-813A-5FE38CDCF893}"/>
                </a:ext>
              </a:extLst>
            </p:cNvPr>
            <p:cNvSpPr txBox="1"/>
            <p:nvPr/>
          </p:nvSpPr>
          <p:spPr>
            <a:xfrm>
              <a:off x="0" y="-47625"/>
              <a:ext cx="1792624" cy="2756958"/>
            </a:xfrm>
            <a:prstGeom prst="rect">
              <a:avLst/>
            </a:prstGeom>
          </p:spPr>
          <p:txBody>
            <a:bodyPr lIns="50800" tIns="50800" rIns="50800" bIns="50800" rtlCol="0" anchor="ctr"/>
            <a:lstStyle/>
            <a:p>
              <a:pPr algn="ctr">
                <a:lnSpc>
                  <a:spcPts val="3359"/>
                </a:lnSpc>
              </a:pPr>
              <a:endParaRPr/>
            </a:p>
          </p:txBody>
        </p:sp>
      </p:grpSp>
      <p:sp>
        <p:nvSpPr>
          <p:cNvPr id="7" name="TextBox 7">
            <a:extLst>
              <a:ext uri="{FF2B5EF4-FFF2-40B4-BE49-F238E27FC236}">
                <a16:creationId xmlns:a16="http://schemas.microsoft.com/office/drawing/2014/main" id="{3C15CE5E-5E28-00CE-A8DC-3B9BEBFE71C4}"/>
              </a:ext>
            </a:extLst>
          </p:cNvPr>
          <p:cNvSpPr txBox="1"/>
          <p:nvPr/>
        </p:nvSpPr>
        <p:spPr>
          <a:xfrm>
            <a:off x="5029200" y="78888"/>
            <a:ext cx="13601700" cy="949812"/>
          </a:xfrm>
          <a:prstGeom prst="rect">
            <a:avLst/>
          </a:prstGeom>
        </p:spPr>
        <p:txBody>
          <a:bodyPr wrap="square" lIns="0" tIns="0" rIns="0" bIns="0" rtlCol="0" anchor="t">
            <a:spAutoFit/>
          </a:bodyPr>
          <a:lstStyle/>
          <a:p>
            <a:pPr marL="0" lvl="0" indent="0" algn="l">
              <a:lnSpc>
                <a:spcPts val="8400"/>
              </a:lnSpc>
            </a:pPr>
            <a:r>
              <a:rPr lang="en-US" sz="3600" b="1" spc="300" dirty="0">
                <a:solidFill>
                  <a:srgbClr val="000000"/>
                </a:solidFill>
                <a:latin typeface="Helios Extended Bold"/>
                <a:ea typeface="Helios Extended Bold"/>
                <a:cs typeface="Helios Extended Bold"/>
                <a:sym typeface="Helios Extended Bold"/>
              </a:rPr>
              <a:t>Grad-Cam Interpretation</a:t>
            </a:r>
          </a:p>
        </p:txBody>
      </p:sp>
      <p:grpSp>
        <p:nvGrpSpPr>
          <p:cNvPr id="12" name="Group 12">
            <a:extLst>
              <a:ext uri="{FF2B5EF4-FFF2-40B4-BE49-F238E27FC236}">
                <a16:creationId xmlns:a16="http://schemas.microsoft.com/office/drawing/2014/main" id="{283D893D-38DA-6696-0D2A-3D5172B2D153}"/>
              </a:ext>
            </a:extLst>
          </p:cNvPr>
          <p:cNvGrpSpPr/>
          <p:nvPr/>
        </p:nvGrpSpPr>
        <p:grpSpPr>
          <a:xfrm>
            <a:off x="780210" y="780210"/>
            <a:ext cx="248490" cy="248490"/>
            <a:chOff x="0" y="0"/>
            <a:chExt cx="812800" cy="812800"/>
          </a:xfrm>
        </p:grpSpPr>
        <p:sp>
          <p:nvSpPr>
            <p:cNvPr id="13" name="Freeform 13">
              <a:extLst>
                <a:ext uri="{FF2B5EF4-FFF2-40B4-BE49-F238E27FC236}">
                  <a16:creationId xmlns:a16="http://schemas.microsoft.com/office/drawing/2014/main" id="{D042C67E-F8A4-06AC-C351-CC3C63EED7AD}"/>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4" name="TextBox 14">
              <a:extLst>
                <a:ext uri="{FF2B5EF4-FFF2-40B4-BE49-F238E27FC236}">
                  <a16:creationId xmlns:a16="http://schemas.microsoft.com/office/drawing/2014/main" id="{8C0D7EB5-6585-6C59-FAC0-2631EF6446F8}"/>
                </a:ext>
              </a:extLst>
            </p:cNvPr>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21" name="TextBox 20">
            <a:extLst>
              <a:ext uri="{FF2B5EF4-FFF2-40B4-BE49-F238E27FC236}">
                <a16:creationId xmlns:a16="http://schemas.microsoft.com/office/drawing/2014/main" id="{4DE6239E-B60F-4801-F5F5-7F2B8E9D12EF}"/>
              </a:ext>
            </a:extLst>
          </p:cNvPr>
          <p:cNvSpPr txBox="1"/>
          <p:nvPr/>
        </p:nvSpPr>
        <p:spPr>
          <a:xfrm>
            <a:off x="1384744" y="6286500"/>
            <a:ext cx="14612325" cy="3108543"/>
          </a:xfrm>
          <a:prstGeom prst="rect">
            <a:avLst/>
          </a:prstGeom>
          <a:noFill/>
        </p:spPr>
        <p:txBody>
          <a:bodyPr wrap="square" rtlCol="0">
            <a:spAutoFit/>
          </a:bodyPr>
          <a:lstStyle/>
          <a:p>
            <a:r>
              <a:rPr lang="en-US" sz="2800" dirty="0"/>
              <a:t>DenseNet121 consistently focuses on the relevant regions of the image that are critical for classification. The model effectively identifies key features, demonstrating its robustness in distinguishing between various classes. In all the Grad-CAM visualizations, DenseNet121 highlights the most important areas, which indicates the model’s ability to make informed predictions. This behavior remains consistent across different input images, showing that the model is both accurate and reliable. The Grad-CAM images validate the interpretability of DenseNet121 and highlight its potential for real-world applications where model transparency is essential.</a:t>
            </a:r>
          </a:p>
        </p:txBody>
      </p:sp>
      <p:pic>
        <p:nvPicPr>
          <p:cNvPr id="10" name="Picture 9">
            <a:extLst>
              <a:ext uri="{FF2B5EF4-FFF2-40B4-BE49-F238E27FC236}">
                <a16:creationId xmlns:a16="http://schemas.microsoft.com/office/drawing/2014/main" id="{AEA9E81B-DB1E-CDE8-3FA0-D66E149A5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4744" y="2582800"/>
            <a:ext cx="6778526" cy="3436999"/>
          </a:xfrm>
          <a:prstGeom prst="rect">
            <a:avLst/>
          </a:prstGeom>
        </p:spPr>
      </p:pic>
      <p:pic>
        <p:nvPicPr>
          <p:cNvPr id="15" name="Picture 14">
            <a:extLst>
              <a:ext uri="{FF2B5EF4-FFF2-40B4-BE49-F238E27FC236}">
                <a16:creationId xmlns:a16="http://schemas.microsoft.com/office/drawing/2014/main" id="{0369F531-3E3A-5DE4-736B-6D77A7D6DE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2545004"/>
            <a:ext cx="6853069" cy="3474795"/>
          </a:xfrm>
          <a:prstGeom prst="rect">
            <a:avLst/>
          </a:prstGeom>
        </p:spPr>
      </p:pic>
      <p:sp>
        <p:nvSpPr>
          <p:cNvPr id="16" name="TextBox 15">
            <a:extLst>
              <a:ext uri="{FF2B5EF4-FFF2-40B4-BE49-F238E27FC236}">
                <a16:creationId xmlns:a16="http://schemas.microsoft.com/office/drawing/2014/main" id="{9593C52F-0655-5599-A852-6C44F055283D}"/>
              </a:ext>
            </a:extLst>
          </p:cNvPr>
          <p:cNvSpPr txBox="1"/>
          <p:nvPr/>
        </p:nvSpPr>
        <p:spPr>
          <a:xfrm>
            <a:off x="1384744" y="1457546"/>
            <a:ext cx="14769656" cy="954107"/>
          </a:xfrm>
          <a:prstGeom prst="rect">
            <a:avLst/>
          </a:prstGeom>
          <a:noFill/>
        </p:spPr>
        <p:txBody>
          <a:bodyPr wrap="square" rtlCol="0">
            <a:spAutoFit/>
          </a:bodyPr>
          <a:lstStyle/>
          <a:p>
            <a:r>
              <a:rPr lang="en-US" sz="2800" dirty="0"/>
              <a:t>The following figure demonstrates the Grad-CAM visualization for DenseNet121, showing how the model focuses on the relevant parts of the image for classification.</a:t>
            </a:r>
          </a:p>
        </p:txBody>
      </p:sp>
    </p:spTree>
    <p:extLst>
      <p:ext uri="{BB962C8B-B14F-4D97-AF65-F5344CB8AC3E}">
        <p14:creationId xmlns:p14="http://schemas.microsoft.com/office/powerpoint/2010/main" val="1833667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44078" y="1326430"/>
            <a:ext cx="21203378" cy="7634140"/>
            <a:chOff x="0" y="0"/>
            <a:chExt cx="1128752" cy="406400"/>
          </a:xfrm>
        </p:grpSpPr>
        <p:sp>
          <p:nvSpPr>
            <p:cNvPr id="3" name="Freeform 3"/>
            <p:cNvSpPr/>
            <p:nvPr/>
          </p:nvSpPr>
          <p:spPr>
            <a:xfrm>
              <a:off x="0" y="0"/>
              <a:ext cx="1128752" cy="406400"/>
            </a:xfrm>
            <a:custGeom>
              <a:avLst/>
              <a:gdLst/>
              <a:ahLst/>
              <a:cxnLst/>
              <a:rect l="l" t="t" r="r" b="b"/>
              <a:pathLst>
                <a:path w="1128752" h="406400">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id="4" name="TextBox 4"/>
            <p:cNvSpPr txBox="1"/>
            <p:nvPr/>
          </p:nvSpPr>
          <p:spPr>
            <a:xfrm>
              <a:off x="0" y="-47625"/>
              <a:ext cx="1128752" cy="454025"/>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2958126" y="3970422"/>
            <a:ext cx="12371749" cy="2060405"/>
          </a:xfrm>
          <a:prstGeom prst="rect">
            <a:avLst/>
          </a:prstGeom>
        </p:spPr>
        <p:txBody>
          <a:bodyPr lIns="0" tIns="0" rIns="0" bIns="0" rtlCol="0" anchor="t">
            <a:spAutoFit/>
          </a:bodyPr>
          <a:lstStyle/>
          <a:p>
            <a:pPr marL="0" lvl="0" indent="0" algn="ctr">
              <a:lnSpc>
                <a:spcPts val="16238"/>
              </a:lnSpc>
            </a:pPr>
            <a:r>
              <a:rPr lang="en-US" sz="11598" b="1" spc="579">
                <a:solidFill>
                  <a:srgbClr val="000000"/>
                </a:solidFill>
                <a:latin typeface="Helios Extended Bold"/>
                <a:ea typeface="Helios Extended Bold"/>
                <a:cs typeface="Helios Extended Bold"/>
                <a:sym typeface="Helios Extended Bold"/>
              </a:rPr>
              <a:t>THANK YOU</a:t>
            </a:r>
          </a:p>
        </p:txBody>
      </p:sp>
      <p:grpSp>
        <p:nvGrpSpPr>
          <p:cNvPr id="6" name="Group 6"/>
          <p:cNvGrpSpPr/>
          <p:nvPr/>
        </p:nvGrpSpPr>
        <p:grpSpPr>
          <a:xfrm>
            <a:off x="1028700" y="9009810"/>
            <a:ext cx="248490" cy="24849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8" name="TextBox 8"/>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a:off x="17010810" y="1028700"/>
            <a:ext cx="248490" cy="248490"/>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1" name="TextBox 11"/>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sp>
        <p:nvSpPr>
          <p:cNvPr id="15" name="Freeform 15"/>
          <p:cNvSpPr/>
          <p:nvPr/>
        </p:nvSpPr>
        <p:spPr>
          <a:xfrm>
            <a:off x="761777" y="1341832"/>
            <a:ext cx="533846" cy="589367"/>
          </a:xfrm>
          <a:custGeom>
            <a:avLst/>
            <a:gdLst/>
            <a:ahLst/>
            <a:cxnLst/>
            <a:rect l="l" t="t" r="r" b="b"/>
            <a:pathLst>
              <a:path w="533846" h="589367">
                <a:moveTo>
                  <a:pt x="0" y="0"/>
                </a:moveTo>
                <a:lnTo>
                  <a:pt x="533846" y="0"/>
                </a:lnTo>
                <a:lnTo>
                  <a:pt x="533846" y="589367"/>
                </a:lnTo>
                <a:lnTo>
                  <a:pt x="0" y="5893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1132</Words>
  <Application>Microsoft Office PowerPoint</Application>
  <PresentationFormat>Custom</PresentationFormat>
  <Paragraphs>97</Paragraphs>
  <Slides>13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Calibri</vt:lpstr>
      <vt:lpstr>Times New Roman</vt:lpstr>
      <vt:lpstr>Poppins</vt:lpstr>
      <vt:lpstr>Arial</vt:lpstr>
      <vt:lpstr>Lato</vt:lpstr>
      <vt:lpstr>Heebo Bold</vt:lpstr>
      <vt:lpstr>Helios Extended Bold</vt:lpstr>
      <vt:lpstr>Franklin Gothic Medium</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Grey Modern Business Research Proposal Presentation</dc:title>
  <dc:creator>Saymon</dc:creator>
  <cp:lastModifiedBy>saymon hosen polash</cp:lastModifiedBy>
  <cp:revision>4</cp:revision>
  <dcterms:created xsi:type="dcterms:W3CDTF">2006-08-16T00:00:00Z</dcterms:created>
  <dcterms:modified xsi:type="dcterms:W3CDTF">2025-09-04T06:24:01Z</dcterms:modified>
  <dc:identifier>DAGx7i04Ne0</dc:identifier>
</cp:coreProperties>
</file>